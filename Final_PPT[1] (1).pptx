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6" r:id="rId4"/>
    <p:sldId id="264" r:id="rId5"/>
    <p:sldId id="265" r:id="rId6"/>
    <p:sldId id="262" r:id="rId7"/>
    <p:sldId id="290" r:id="rId8"/>
    <p:sldId id="288" r:id="rId9"/>
    <p:sldId id="268" r:id="rId10"/>
    <p:sldId id="270" r:id="rId11"/>
    <p:sldId id="271" r:id="rId12"/>
    <p:sldId id="287" r:id="rId13"/>
    <p:sldId id="297" r:id="rId14"/>
    <p:sldId id="26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80" d="100"/>
          <a:sy n="80" d="100"/>
        </p:scale>
        <p:origin x="739"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0AB8B-B1B4-6AF5-36FE-7FDD63FF0C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92B8B11-CCA7-A036-F2DD-5F0EA620DD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53716D2-84C4-AD69-50DE-4214D1A45E29}"/>
              </a:ext>
            </a:extLst>
          </p:cNvPr>
          <p:cNvSpPr>
            <a:spLocks noGrp="1"/>
          </p:cNvSpPr>
          <p:nvPr>
            <p:ph type="dt" sz="half" idx="10"/>
          </p:nvPr>
        </p:nvSpPr>
        <p:spPr/>
        <p:txBody>
          <a:bodyPr/>
          <a:lstStyle/>
          <a:p>
            <a:fld id="{85D3E058-BCA6-4941-9536-462995764D83}" type="datetimeFigureOut">
              <a:rPr lang="en-IN" smtClean="0"/>
              <a:t>04-05-2025</a:t>
            </a:fld>
            <a:endParaRPr lang="en-IN"/>
          </a:p>
        </p:txBody>
      </p:sp>
      <p:sp>
        <p:nvSpPr>
          <p:cNvPr id="5" name="Footer Placeholder 4">
            <a:extLst>
              <a:ext uri="{FF2B5EF4-FFF2-40B4-BE49-F238E27FC236}">
                <a16:creationId xmlns:a16="http://schemas.microsoft.com/office/drawing/2014/main" id="{2D33E097-6C99-9D75-A329-E9AEB6CEAA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84289B-73A0-DF0D-6817-85D99637DD91}"/>
              </a:ext>
            </a:extLst>
          </p:cNvPr>
          <p:cNvSpPr>
            <a:spLocks noGrp="1"/>
          </p:cNvSpPr>
          <p:nvPr>
            <p:ph type="sldNum" sz="quarter" idx="12"/>
          </p:nvPr>
        </p:nvSpPr>
        <p:spPr/>
        <p:txBody>
          <a:bodyPr/>
          <a:lstStyle/>
          <a:p>
            <a:fld id="{64AF561D-32B8-49E3-A63C-4FC74F4A4F7A}" type="slidenum">
              <a:rPr lang="en-IN" smtClean="0"/>
              <a:t>‹#›</a:t>
            </a:fld>
            <a:endParaRPr lang="en-IN"/>
          </a:p>
        </p:txBody>
      </p:sp>
    </p:spTree>
    <p:extLst>
      <p:ext uri="{BB962C8B-B14F-4D97-AF65-F5344CB8AC3E}">
        <p14:creationId xmlns:p14="http://schemas.microsoft.com/office/powerpoint/2010/main" val="697451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2F754-80CF-B961-FDD7-73CA3FCA1F4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04B1AA3-D368-A915-3B66-8C0754E9C9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7E28B6-DCFA-6120-7835-F08E8C536FFA}"/>
              </a:ext>
            </a:extLst>
          </p:cNvPr>
          <p:cNvSpPr>
            <a:spLocks noGrp="1"/>
          </p:cNvSpPr>
          <p:nvPr>
            <p:ph type="dt" sz="half" idx="10"/>
          </p:nvPr>
        </p:nvSpPr>
        <p:spPr/>
        <p:txBody>
          <a:bodyPr/>
          <a:lstStyle/>
          <a:p>
            <a:fld id="{85D3E058-BCA6-4941-9536-462995764D83}" type="datetimeFigureOut">
              <a:rPr lang="en-IN" smtClean="0"/>
              <a:t>04-05-2025</a:t>
            </a:fld>
            <a:endParaRPr lang="en-IN"/>
          </a:p>
        </p:txBody>
      </p:sp>
      <p:sp>
        <p:nvSpPr>
          <p:cNvPr id="5" name="Footer Placeholder 4">
            <a:extLst>
              <a:ext uri="{FF2B5EF4-FFF2-40B4-BE49-F238E27FC236}">
                <a16:creationId xmlns:a16="http://schemas.microsoft.com/office/drawing/2014/main" id="{F301C967-0AD8-9174-03FD-2732CFFC6C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0883DD-10EF-6A26-95C3-22F5AA94F635}"/>
              </a:ext>
            </a:extLst>
          </p:cNvPr>
          <p:cNvSpPr>
            <a:spLocks noGrp="1"/>
          </p:cNvSpPr>
          <p:nvPr>
            <p:ph type="sldNum" sz="quarter" idx="12"/>
          </p:nvPr>
        </p:nvSpPr>
        <p:spPr/>
        <p:txBody>
          <a:bodyPr/>
          <a:lstStyle/>
          <a:p>
            <a:fld id="{64AF561D-32B8-49E3-A63C-4FC74F4A4F7A}" type="slidenum">
              <a:rPr lang="en-IN" smtClean="0"/>
              <a:t>‹#›</a:t>
            </a:fld>
            <a:endParaRPr lang="en-IN"/>
          </a:p>
        </p:txBody>
      </p:sp>
    </p:spTree>
    <p:extLst>
      <p:ext uri="{BB962C8B-B14F-4D97-AF65-F5344CB8AC3E}">
        <p14:creationId xmlns:p14="http://schemas.microsoft.com/office/powerpoint/2010/main" val="2286273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42AEF-3F5F-9836-55D6-9BB6BB690D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42C06EE-8DFD-F3D8-A137-E23BE00479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3CF8EF-5E0B-7F9B-3734-EED733B69512}"/>
              </a:ext>
            </a:extLst>
          </p:cNvPr>
          <p:cNvSpPr>
            <a:spLocks noGrp="1"/>
          </p:cNvSpPr>
          <p:nvPr>
            <p:ph type="dt" sz="half" idx="10"/>
          </p:nvPr>
        </p:nvSpPr>
        <p:spPr/>
        <p:txBody>
          <a:bodyPr/>
          <a:lstStyle/>
          <a:p>
            <a:fld id="{85D3E058-BCA6-4941-9536-462995764D83}" type="datetimeFigureOut">
              <a:rPr lang="en-IN" smtClean="0"/>
              <a:t>04-05-2025</a:t>
            </a:fld>
            <a:endParaRPr lang="en-IN"/>
          </a:p>
        </p:txBody>
      </p:sp>
      <p:sp>
        <p:nvSpPr>
          <p:cNvPr id="5" name="Footer Placeholder 4">
            <a:extLst>
              <a:ext uri="{FF2B5EF4-FFF2-40B4-BE49-F238E27FC236}">
                <a16:creationId xmlns:a16="http://schemas.microsoft.com/office/drawing/2014/main" id="{6B05C2ED-CBC6-8357-11DB-E1903D1C66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D0939D-7444-2024-D6DC-906438ADEF22}"/>
              </a:ext>
            </a:extLst>
          </p:cNvPr>
          <p:cNvSpPr>
            <a:spLocks noGrp="1"/>
          </p:cNvSpPr>
          <p:nvPr>
            <p:ph type="sldNum" sz="quarter" idx="12"/>
          </p:nvPr>
        </p:nvSpPr>
        <p:spPr/>
        <p:txBody>
          <a:bodyPr/>
          <a:lstStyle/>
          <a:p>
            <a:fld id="{64AF561D-32B8-49E3-A63C-4FC74F4A4F7A}" type="slidenum">
              <a:rPr lang="en-IN" smtClean="0"/>
              <a:t>‹#›</a:t>
            </a:fld>
            <a:endParaRPr lang="en-IN"/>
          </a:p>
        </p:txBody>
      </p:sp>
    </p:spTree>
    <p:extLst>
      <p:ext uri="{BB962C8B-B14F-4D97-AF65-F5344CB8AC3E}">
        <p14:creationId xmlns:p14="http://schemas.microsoft.com/office/powerpoint/2010/main" val="1046309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A9FC6-8271-92C5-AFDD-E53E2242A1A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F1D3E9C-7655-1FC4-1C23-A8FA5C5E245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E56CDD0-9F5B-682C-02D2-613C7B82498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EA081DE-1874-BBDF-B726-85BB8B9A4134}"/>
              </a:ext>
            </a:extLst>
          </p:cNvPr>
          <p:cNvSpPr>
            <a:spLocks noGrp="1"/>
          </p:cNvSpPr>
          <p:nvPr>
            <p:ph type="dt" sz="half" idx="10"/>
          </p:nvPr>
        </p:nvSpPr>
        <p:spPr/>
        <p:txBody>
          <a:bodyPr/>
          <a:lstStyle/>
          <a:p>
            <a:fld id="{85D3E058-BCA6-4941-9536-462995764D83}" type="datetimeFigureOut">
              <a:rPr lang="en-IN" smtClean="0"/>
              <a:t>04-05-2025</a:t>
            </a:fld>
            <a:endParaRPr lang="en-IN"/>
          </a:p>
        </p:txBody>
      </p:sp>
      <p:sp>
        <p:nvSpPr>
          <p:cNvPr id="6" name="Footer Placeholder 5">
            <a:extLst>
              <a:ext uri="{FF2B5EF4-FFF2-40B4-BE49-F238E27FC236}">
                <a16:creationId xmlns:a16="http://schemas.microsoft.com/office/drawing/2014/main" id="{AD0F9D10-3647-19B3-F0D6-B29CB385AF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09D1AB0-AAB0-091F-5351-6E57BC596CEB}"/>
              </a:ext>
            </a:extLst>
          </p:cNvPr>
          <p:cNvSpPr>
            <a:spLocks noGrp="1"/>
          </p:cNvSpPr>
          <p:nvPr>
            <p:ph type="sldNum" sz="quarter" idx="12"/>
          </p:nvPr>
        </p:nvSpPr>
        <p:spPr/>
        <p:txBody>
          <a:bodyPr/>
          <a:lstStyle/>
          <a:p>
            <a:fld id="{64AF561D-32B8-49E3-A63C-4FC74F4A4F7A}" type="slidenum">
              <a:rPr lang="en-IN" smtClean="0"/>
              <a:t>‹#›</a:t>
            </a:fld>
            <a:endParaRPr lang="en-IN"/>
          </a:p>
        </p:txBody>
      </p:sp>
    </p:spTree>
    <p:extLst>
      <p:ext uri="{BB962C8B-B14F-4D97-AF65-F5344CB8AC3E}">
        <p14:creationId xmlns:p14="http://schemas.microsoft.com/office/powerpoint/2010/main" val="3293018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7368F-51A8-063C-D006-0BF5A09C894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1C10A65-8CCD-0963-52B7-932B1EC7C1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082EA2-0A91-AE95-6A80-72255E9B36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82F7302-A7F0-CD36-BA74-177AF57F18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2ECDA7-61BF-7EB8-B9D2-747BD2424E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BB996CA-EC10-1E9B-9D28-0BE90C6B2076}"/>
              </a:ext>
            </a:extLst>
          </p:cNvPr>
          <p:cNvSpPr>
            <a:spLocks noGrp="1"/>
          </p:cNvSpPr>
          <p:nvPr>
            <p:ph type="dt" sz="half" idx="10"/>
          </p:nvPr>
        </p:nvSpPr>
        <p:spPr/>
        <p:txBody>
          <a:bodyPr/>
          <a:lstStyle/>
          <a:p>
            <a:fld id="{85D3E058-BCA6-4941-9536-462995764D83}" type="datetimeFigureOut">
              <a:rPr lang="en-IN" smtClean="0"/>
              <a:t>04-05-2025</a:t>
            </a:fld>
            <a:endParaRPr lang="en-IN"/>
          </a:p>
        </p:txBody>
      </p:sp>
      <p:sp>
        <p:nvSpPr>
          <p:cNvPr id="8" name="Footer Placeholder 7">
            <a:extLst>
              <a:ext uri="{FF2B5EF4-FFF2-40B4-BE49-F238E27FC236}">
                <a16:creationId xmlns:a16="http://schemas.microsoft.com/office/drawing/2014/main" id="{262C2687-D223-CAE7-8D91-3C239A79FE9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AFB34BF-8B16-35C6-018F-FA955CAA7058}"/>
              </a:ext>
            </a:extLst>
          </p:cNvPr>
          <p:cNvSpPr>
            <a:spLocks noGrp="1"/>
          </p:cNvSpPr>
          <p:nvPr>
            <p:ph type="sldNum" sz="quarter" idx="12"/>
          </p:nvPr>
        </p:nvSpPr>
        <p:spPr/>
        <p:txBody>
          <a:bodyPr/>
          <a:lstStyle/>
          <a:p>
            <a:fld id="{64AF561D-32B8-49E3-A63C-4FC74F4A4F7A}" type="slidenum">
              <a:rPr lang="en-IN" smtClean="0"/>
              <a:t>‹#›</a:t>
            </a:fld>
            <a:endParaRPr lang="en-IN"/>
          </a:p>
        </p:txBody>
      </p:sp>
    </p:spTree>
    <p:extLst>
      <p:ext uri="{BB962C8B-B14F-4D97-AF65-F5344CB8AC3E}">
        <p14:creationId xmlns:p14="http://schemas.microsoft.com/office/powerpoint/2010/main" val="832731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19DEE-2D55-6E69-41B3-DC3F2446960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3318D93-C6DC-51B1-76E3-9BE51D21B40B}"/>
              </a:ext>
            </a:extLst>
          </p:cNvPr>
          <p:cNvSpPr>
            <a:spLocks noGrp="1"/>
          </p:cNvSpPr>
          <p:nvPr>
            <p:ph type="dt" sz="half" idx="10"/>
          </p:nvPr>
        </p:nvSpPr>
        <p:spPr/>
        <p:txBody>
          <a:bodyPr/>
          <a:lstStyle/>
          <a:p>
            <a:fld id="{85D3E058-BCA6-4941-9536-462995764D83}" type="datetimeFigureOut">
              <a:rPr lang="en-IN" smtClean="0"/>
              <a:t>04-05-2025</a:t>
            </a:fld>
            <a:endParaRPr lang="en-IN"/>
          </a:p>
        </p:txBody>
      </p:sp>
      <p:sp>
        <p:nvSpPr>
          <p:cNvPr id="4" name="Footer Placeholder 3">
            <a:extLst>
              <a:ext uri="{FF2B5EF4-FFF2-40B4-BE49-F238E27FC236}">
                <a16:creationId xmlns:a16="http://schemas.microsoft.com/office/drawing/2014/main" id="{F100126A-0C6E-E3E5-0C1D-AC4E68C4115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3F7FCCD-48AD-3582-E8B3-A12E822626A6}"/>
              </a:ext>
            </a:extLst>
          </p:cNvPr>
          <p:cNvSpPr>
            <a:spLocks noGrp="1"/>
          </p:cNvSpPr>
          <p:nvPr>
            <p:ph type="sldNum" sz="quarter" idx="12"/>
          </p:nvPr>
        </p:nvSpPr>
        <p:spPr/>
        <p:txBody>
          <a:bodyPr/>
          <a:lstStyle/>
          <a:p>
            <a:fld id="{64AF561D-32B8-49E3-A63C-4FC74F4A4F7A}" type="slidenum">
              <a:rPr lang="en-IN" smtClean="0"/>
              <a:t>‹#›</a:t>
            </a:fld>
            <a:endParaRPr lang="en-IN"/>
          </a:p>
        </p:txBody>
      </p:sp>
    </p:spTree>
    <p:extLst>
      <p:ext uri="{BB962C8B-B14F-4D97-AF65-F5344CB8AC3E}">
        <p14:creationId xmlns:p14="http://schemas.microsoft.com/office/powerpoint/2010/main" val="477497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0620A8-D745-C5D3-DFB4-603429FBC031}"/>
              </a:ext>
            </a:extLst>
          </p:cNvPr>
          <p:cNvSpPr>
            <a:spLocks noGrp="1"/>
          </p:cNvSpPr>
          <p:nvPr>
            <p:ph type="dt" sz="half" idx="10"/>
          </p:nvPr>
        </p:nvSpPr>
        <p:spPr/>
        <p:txBody>
          <a:bodyPr/>
          <a:lstStyle/>
          <a:p>
            <a:fld id="{85D3E058-BCA6-4941-9536-462995764D83}" type="datetimeFigureOut">
              <a:rPr lang="en-IN" smtClean="0"/>
              <a:t>04-05-2025</a:t>
            </a:fld>
            <a:endParaRPr lang="en-IN"/>
          </a:p>
        </p:txBody>
      </p:sp>
      <p:sp>
        <p:nvSpPr>
          <p:cNvPr id="3" name="Footer Placeholder 2">
            <a:extLst>
              <a:ext uri="{FF2B5EF4-FFF2-40B4-BE49-F238E27FC236}">
                <a16:creationId xmlns:a16="http://schemas.microsoft.com/office/drawing/2014/main" id="{CEE54F00-C170-F4E9-830E-BF91F1945DC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3CEBB3C-33EB-8D03-8967-792BE2FB724A}"/>
              </a:ext>
            </a:extLst>
          </p:cNvPr>
          <p:cNvSpPr>
            <a:spLocks noGrp="1"/>
          </p:cNvSpPr>
          <p:nvPr>
            <p:ph type="sldNum" sz="quarter" idx="12"/>
          </p:nvPr>
        </p:nvSpPr>
        <p:spPr/>
        <p:txBody>
          <a:bodyPr/>
          <a:lstStyle/>
          <a:p>
            <a:fld id="{64AF561D-32B8-49E3-A63C-4FC74F4A4F7A}" type="slidenum">
              <a:rPr lang="en-IN" smtClean="0"/>
              <a:t>‹#›</a:t>
            </a:fld>
            <a:endParaRPr lang="en-IN"/>
          </a:p>
        </p:txBody>
      </p:sp>
    </p:spTree>
    <p:extLst>
      <p:ext uri="{BB962C8B-B14F-4D97-AF65-F5344CB8AC3E}">
        <p14:creationId xmlns:p14="http://schemas.microsoft.com/office/powerpoint/2010/main" val="37435511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63F25-EA54-4110-EFDF-79BE70C6F3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EB53E12-A296-6356-3318-75B4B74A43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0BFCA1E-F08B-3168-2736-253D673C9A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D98932-1254-7215-0A90-4C1B0EBBA644}"/>
              </a:ext>
            </a:extLst>
          </p:cNvPr>
          <p:cNvSpPr>
            <a:spLocks noGrp="1"/>
          </p:cNvSpPr>
          <p:nvPr>
            <p:ph type="dt" sz="half" idx="10"/>
          </p:nvPr>
        </p:nvSpPr>
        <p:spPr/>
        <p:txBody>
          <a:bodyPr/>
          <a:lstStyle/>
          <a:p>
            <a:fld id="{85D3E058-BCA6-4941-9536-462995764D83}" type="datetimeFigureOut">
              <a:rPr lang="en-IN" smtClean="0"/>
              <a:t>04-05-2025</a:t>
            </a:fld>
            <a:endParaRPr lang="en-IN"/>
          </a:p>
        </p:txBody>
      </p:sp>
      <p:sp>
        <p:nvSpPr>
          <p:cNvPr id="6" name="Footer Placeholder 5">
            <a:extLst>
              <a:ext uri="{FF2B5EF4-FFF2-40B4-BE49-F238E27FC236}">
                <a16:creationId xmlns:a16="http://schemas.microsoft.com/office/drawing/2014/main" id="{AD6AAE61-316C-C747-95FC-A956683D75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192A321-A0D7-65A8-72E4-C0B886766E68}"/>
              </a:ext>
            </a:extLst>
          </p:cNvPr>
          <p:cNvSpPr>
            <a:spLocks noGrp="1"/>
          </p:cNvSpPr>
          <p:nvPr>
            <p:ph type="sldNum" sz="quarter" idx="12"/>
          </p:nvPr>
        </p:nvSpPr>
        <p:spPr/>
        <p:txBody>
          <a:bodyPr/>
          <a:lstStyle/>
          <a:p>
            <a:fld id="{64AF561D-32B8-49E3-A63C-4FC74F4A4F7A}" type="slidenum">
              <a:rPr lang="en-IN" smtClean="0"/>
              <a:t>‹#›</a:t>
            </a:fld>
            <a:endParaRPr lang="en-IN"/>
          </a:p>
        </p:txBody>
      </p:sp>
    </p:spTree>
    <p:extLst>
      <p:ext uri="{BB962C8B-B14F-4D97-AF65-F5344CB8AC3E}">
        <p14:creationId xmlns:p14="http://schemas.microsoft.com/office/powerpoint/2010/main" val="4289597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B8F6C-FA5F-DEB8-5A5C-CB01C4BD18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7459F98-16C2-68FF-9856-2D4F19AA24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555A859-8104-E96B-8698-623DC4A78A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4710B0-CA52-11D4-823B-6C49FA8E6939}"/>
              </a:ext>
            </a:extLst>
          </p:cNvPr>
          <p:cNvSpPr>
            <a:spLocks noGrp="1"/>
          </p:cNvSpPr>
          <p:nvPr>
            <p:ph type="dt" sz="half" idx="10"/>
          </p:nvPr>
        </p:nvSpPr>
        <p:spPr/>
        <p:txBody>
          <a:bodyPr/>
          <a:lstStyle/>
          <a:p>
            <a:fld id="{85D3E058-BCA6-4941-9536-462995764D83}" type="datetimeFigureOut">
              <a:rPr lang="en-IN" smtClean="0"/>
              <a:t>04-05-2025</a:t>
            </a:fld>
            <a:endParaRPr lang="en-IN"/>
          </a:p>
        </p:txBody>
      </p:sp>
      <p:sp>
        <p:nvSpPr>
          <p:cNvPr id="6" name="Footer Placeholder 5">
            <a:extLst>
              <a:ext uri="{FF2B5EF4-FFF2-40B4-BE49-F238E27FC236}">
                <a16:creationId xmlns:a16="http://schemas.microsoft.com/office/drawing/2014/main" id="{DDA107C0-DE47-3109-721B-C5606A5F383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B423E6-E31B-EE9A-3079-5A69044862C6}"/>
              </a:ext>
            </a:extLst>
          </p:cNvPr>
          <p:cNvSpPr>
            <a:spLocks noGrp="1"/>
          </p:cNvSpPr>
          <p:nvPr>
            <p:ph type="sldNum" sz="quarter" idx="12"/>
          </p:nvPr>
        </p:nvSpPr>
        <p:spPr/>
        <p:txBody>
          <a:bodyPr/>
          <a:lstStyle/>
          <a:p>
            <a:fld id="{64AF561D-32B8-49E3-A63C-4FC74F4A4F7A}" type="slidenum">
              <a:rPr lang="en-IN" smtClean="0"/>
              <a:t>‹#›</a:t>
            </a:fld>
            <a:endParaRPr lang="en-IN"/>
          </a:p>
        </p:txBody>
      </p:sp>
    </p:spTree>
    <p:extLst>
      <p:ext uri="{BB962C8B-B14F-4D97-AF65-F5344CB8AC3E}">
        <p14:creationId xmlns:p14="http://schemas.microsoft.com/office/powerpoint/2010/main" val="776682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1FBBD-D464-17BB-B89D-03F97718255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FFBAE7C-C0AC-82B3-500C-63F135879E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2FB4A6F-0913-73CD-262F-244B49C5C474}"/>
              </a:ext>
            </a:extLst>
          </p:cNvPr>
          <p:cNvSpPr>
            <a:spLocks noGrp="1"/>
          </p:cNvSpPr>
          <p:nvPr>
            <p:ph type="dt" sz="half" idx="10"/>
          </p:nvPr>
        </p:nvSpPr>
        <p:spPr/>
        <p:txBody>
          <a:bodyPr/>
          <a:lstStyle/>
          <a:p>
            <a:fld id="{85D3E058-BCA6-4941-9536-462995764D83}" type="datetimeFigureOut">
              <a:rPr lang="en-IN" smtClean="0"/>
              <a:t>04-05-2025</a:t>
            </a:fld>
            <a:endParaRPr lang="en-IN"/>
          </a:p>
        </p:txBody>
      </p:sp>
      <p:sp>
        <p:nvSpPr>
          <p:cNvPr id="5" name="Footer Placeholder 4">
            <a:extLst>
              <a:ext uri="{FF2B5EF4-FFF2-40B4-BE49-F238E27FC236}">
                <a16:creationId xmlns:a16="http://schemas.microsoft.com/office/drawing/2014/main" id="{064F9562-FBF6-2043-15FF-A5F3845F38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01AB6B-BEF7-E31C-67E3-F9AA474587B5}"/>
              </a:ext>
            </a:extLst>
          </p:cNvPr>
          <p:cNvSpPr>
            <a:spLocks noGrp="1"/>
          </p:cNvSpPr>
          <p:nvPr>
            <p:ph type="sldNum" sz="quarter" idx="12"/>
          </p:nvPr>
        </p:nvSpPr>
        <p:spPr/>
        <p:txBody>
          <a:bodyPr/>
          <a:lstStyle/>
          <a:p>
            <a:fld id="{64AF561D-32B8-49E3-A63C-4FC74F4A4F7A}" type="slidenum">
              <a:rPr lang="en-IN" smtClean="0"/>
              <a:t>‹#›</a:t>
            </a:fld>
            <a:endParaRPr lang="en-IN"/>
          </a:p>
        </p:txBody>
      </p:sp>
    </p:spTree>
    <p:extLst>
      <p:ext uri="{BB962C8B-B14F-4D97-AF65-F5344CB8AC3E}">
        <p14:creationId xmlns:p14="http://schemas.microsoft.com/office/powerpoint/2010/main" val="1602717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FE1CEB-0A68-12E1-E5FA-AEEC5625FBA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22403B1-4E9A-A834-D108-6FBD1E450CC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720E59-9DD3-A146-C86F-67D8B1BE6348}"/>
              </a:ext>
            </a:extLst>
          </p:cNvPr>
          <p:cNvSpPr>
            <a:spLocks noGrp="1"/>
          </p:cNvSpPr>
          <p:nvPr>
            <p:ph type="dt" sz="half" idx="10"/>
          </p:nvPr>
        </p:nvSpPr>
        <p:spPr/>
        <p:txBody>
          <a:bodyPr/>
          <a:lstStyle/>
          <a:p>
            <a:fld id="{85D3E058-BCA6-4941-9536-462995764D83}" type="datetimeFigureOut">
              <a:rPr lang="en-IN" smtClean="0"/>
              <a:t>04-05-2025</a:t>
            </a:fld>
            <a:endParaRPr lang="en-IN"/>
          </a:p>
        </p:txBody>
      </p:sp>
      <p:sp>
        <p:nvSpPr>
          <p:cNvPr id="5" name="Footer Placeholder 4">
            <a:extLst>
              <a:ext uri="{FF2B5EF4-FFF2-40B4-BE49-F238E27FC236}">
                <a16:creationId xmlns:a16="http://schemas.microsoft.com/office/drawing/2014/main" id="{738E94E9-7566-0D4B-05AA-93B13B5855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459AA9-2D66-1B05-4BE0-D72742771D4C}"/>
              </a:ext>
            </a:extLst>
          </p:cNvPr>
          <p:cNvSpPr>
            <a:spLocks noGrp="1"/>
          </p:cNvSpPr>
          <p:nvPr>
            <p:ph type="sldNum" sz="quarter" idx="12"/>
          </p:nvPr>
        </p:nvSpPr>
        <p:spPr/>
        <p:txBody>
          <a:bodyPr/>
          <a:lstStyle/>
          <a:p>
            <a:fld id="{64AF561D-32B8-49E3-A63C-4FC74F4A4F7A}" type="slidenum">
              <a:rPr lang="en-IN" smtClean="0"/>
              <a:t>‹#›</a:t>
            </a:fld>
            <a:endParaRPr lang="en-IN"/>
          </a:p>
        </p:txBody>
      </p:sp>
    </p:spTree>
    <p:extLst>
      <p:ext uri="{BB962C8B-B14F-4D97-AF65-F5344CB8AC3E}">
        <p14:creationId xmlns:p14="http://schemas.microsoft.com/office/powerpoint/2010/main" val="1115495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84872B-5596-ADF4-AC60-8C27F00AF0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5DB1FF1-94FC-2D60-EB99-35A782DF78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AFBC4C-575C-E8CE-3996-0B1DA9BA0B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D3E058-BCA6-4941-9536-462995764D83}" type="datetimeFigureOut">
              <a:rPr lang="en-IN" smtClean="0"/>
              <a:t>04-05-2025</a:t>
            </a:fld>
            <a:endParaRPr lang="en-IN"/>
          </a:p>
        </p:txBody>
      </p:sp>
      <p:sp>
        <p:nvSpPr>
          <p:cNvPr id="5" name="Footer Placeholder 4">
            <a:extLst>
              <a:ext uri="{FF2B5EF4-FFF2-40B4-BE49-F238E27FC236}">
                <a16:creationId xmlns:a16="http://schemas.microsoft.com/office/drawing/2014/main" id="{78E463F2-A6F7-F189-7595-C21C0175AC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51C3BB6-B6E5-24DB-B768-B47BD3359F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AF561D-32B8-49E3-A63C-4FC74F4A4F7A}" type="slidenum">
              <a:rPr lang="en-IN" smtClean="0"/>
              <a:t>‹#›</a:t>
            </a:fld>
            <a:endParaRPr lang="en-IN"/>
          </a:p>
        </p:txBody>
      </p:sp>
    </p:spTree>
    <p:extLst>
      <p:ext uri="{BB962C8B-B14F-4D97-AF65-F5344CB8AC3E}">
        <p14:creationId xmlns:p14="http://schemas.microsoft.com/office/powerpoint/2010/main" val="16874362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872A7-BFC0-FA9E-4723-71B652564A54}"/>
              </a:ext>
            </a:extLst>
          </p:cNvPr>
          <p:cNvSpPr>
            <a:spLocks noGrp="1"/>
          </p:cNvSpPr>
          <p:nvPr>
            <p:ph type="ctrTitle"/>
          </p:nvPr>
        </p:nvSpPr>
        <p:spPr>
          <a:xfrm>
            <a:off x="677332" y="2318672"/>
            <a:ext cx="10778067" cy="1373070"/>
          </a:xfrm>
        </p:spPr>
        <p:txBody>
          <a:bodyPr/>
          <a:lstStyle/>
          <a:p>
            <a:r>
              <a:rPr lang="en-US" sz="4400" b="1" dirty="0">
                <a:latin typeface="Times New Roman" panose="02020603050405020304" pitchFamily="18" charset="0"/>
                <a:cs typeface="Times New Roman" panose="02020603050405020304" pitchFamily="18" charset="0"/>
              </a:rPr>
              <a:t>Real-time Virtual Drawing and Captions for Online learning using Computer Vision</a:t>
            </a:r>
            <a:endParaRPr lang="en-IN" sz="44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03555B3-A10E-1311-9F97-BDC35475E276}"/>
              </a:ext>
            </a:extLst>
          </p:cNvPr>
          <p:cNvSpPr txBox="1"/>
          <p:nvPr/>
        </p:nvSpPr>
        <p:spPr>
          <a:xfrm>
            <a:off x="1278193" y="1552092"/>
            <a:ext cx="10589341" cy="461665"/>
          </a:xfrm>
          <a:prstGeom prst="rect">
            <a:avLst/>
          </a:prstGeom>
          <a:noFill/>
        </p:spPr>
        <p:txBody>
          <a:bodyPr wrap="square" rtlCol="0">
            <a:spAutoFit/>
          </a:bodyPr>
          <a:lstStyle/>
          <a:p>
            <a:r>
              <a:rPr lang="en-IN" sz="2400" b="1" dirty="0">
                <a:solidFill>
                  <a:schemeClr val="bg1"/>
                </a:solidFill>
                <a:latin typeface="Times New Roman" panose="02020603050405020304" pitchFamily="18" charset="0"/>
                <a:cs typeface="Times New Roman" panose="02020603050405020304" pitchFamily="18" charset="0"/>
              </a:rPr>
              <a:t>DEPARTMENT OF COMPUTER SCIENCE AND ENGINEERING</a:t>
            </a:r>
          </a:p>
        </p:txBody>
      </p:sp>
      <p:sp>
        <p:nvSpPr>
          <p:cNvPr id="8" name="TextBox 7">
            <a:extLst>
              <a:ext uri="{FF2B5EF4-FFF2-40B4-BE49-F238E27FC236}">
                <a16:creationId xmlns:a16="http://schemas.microsoft.com/office/drawing/2014/main" id="{473CBE6D-1081-71A0-9781-1320E65AED98}"/>
              </a:ext>
            </a:extLst>
          </p:cNvPr>
          <p:cNvSpPr txBox="1"/>
          <p:nvPr/>
        </p:nvSpPr>
        <p:spPr>
          <a:xfrm>
            <a:off x="807062" y="4385951"/>
            <a:ext cx="3273871" cy="1908215"/>
          </a:xfrm>
          <a:prstGeom prst="rect">
            <a:avLst/>
          </a:prstGeom>
          <a:noFill/>
        </p:spPr>
        <p:txBody>
          <a:bodyPr wrap="square" rtlCol="0">
            <a:spAutoFit/>
          </a:bodyPr>
          <a:lstStyle/>
          <a:p>
            <a:pPr algn="ctr"/>
            <a:r>
              <a:rPr lang="en-IN" sz="2000" b="1" dirty="0">
                <a:latin typeface="Times New Roman" panose="02020603050405020304" pitchFamily="18" charset="0"/>
                <a:cs typeface="Times New Roman" panose="02020603050405020304" pitchFamily="18" charset="0"/>
              </a:rPr>
              <a:t>Under the Guidance of</a:t>
            </a:r>
          </a:p>
          <a:p>
            <a:endParaRPr lang="en-IN" sz="2000" dirty="0">
              <a:latin typeface="Times New Roman" panose="02020603050405020304" pitchFamily="18" charset="0"/>
              <a:cs typeface="Times New Roman" panose="02020603050405020304" pitchFamily="18" charset="0"/>
            </a:endParaRPr>
          </a:p>
          <a:p>
            <a:pPr algn="ctr"/>
            <a:r>
              <a:rPr lang="en-IN" sz="2000" dirty="0" err="1">
                <a:latin typeface="Times New Roman" panose="02020603050405020304" pitchFamily="18" charset="0"/>
                <a:cs typeface="Times New Roman" panose="02020603050405020304" pitchFamily="18" charset="0"/>
              </a:rPr>
              <a:t>Dr.</a:t>
            </a:r>
            <a:r>
              <a:rPr lang="en-IN" sz="2000" dirty="0">
                <a:latin typeface="Times New Roman" panose="02020603050405020304" pitchFamily="18" charset="0"/>
                <a:cs typeface="Times New Roman" panose="02020603050405020304" pitchFamily="18" charset="0"/>
              </a:rPr>
              <a:t> K. Durga Prasad</a:t>
            </a:r>
          </a:p>
          <a:p>
            <a:pPr algn="ctr"/>
            <a:r>
              <a:rPr lang="en-IN" sz="2000" dirty="0">
                <a:latin typeface="Times New Roman" panose="02020603050405020304" pitchFamily="18" charset="0"/>
                <a:cs typeface="Times New Roman" panose="02020603050405020304" pitchFamily="18" charset="0"/>
              </a:rPr>
              <a:t>Professor &amp; HOD,</a:t>
            </a:r>
          </a:p>
          <a:p>
            <a:pPr algn="ctr"/>
            <a:r>
              <a:rPr lang="en-IN" sz="2000" dirty="0">
                <a:latin typeface="Times New Roman" panose="02020603050405020304" pitchFamily="18" charset="0"/>
                <a:cs typeface="Times New Roman" panose="02020603050405020304" pitchFamily="18" charset="0"/>
              </a:rPr>
              <a:t>CSE-AI&amp;ML</a:t>
            </a:r>
          </a:p>
          <a:p>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F1367578-1574-3DDA-8635-400393192044}"/>
              </a:ext>
            </a:extLst>
          </p:cNvPr>
          <p:cNvSpPr txBox="1"/>
          <p:nvPr/>
        </p:nvSpPr>
        <p:spPr>
          <a:xfrm>
            <a:off x="7802457" y="4385951"/>
            <a:ext cx="3582481" cy="1815882"/>
          </a:xfrm>
          <a:prstGeom prst="rect">
            <a:avLst/>
          </a:prstGeom>
          <a:noFill/>
        </p:spPr>
        <p:txBody>
          <a:bodyPr wrap="square" rtlCol="0">
            <a:spAutoFit/>
          </a:bodyPr>
          <a:lstStyle/>
          <a:p>
            <a:pPr algn="ctr"/>
            <a:r>
              <a:rPr lang="en-IN" sz="2000" b="1" dirty="0">
                <a:latin typeface="Times New Roman" panose="02020603050405020304" pitchFamily="18" charset="0"/>
                <a:cs typeface="Times New Roman" panose="02020603050405020304" pitchFamily="18" charset="0"/>
              </a:rPr>
              <a:t>TEAM MEMBERS:</a:t>
            </a:r>
          </a:p>
          <a:p>
            <a:endParaRPr lang="en-IN" sz="2000" b="1"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22N71A6650 – G. </a:t>
            </a:r>
            <a:r>
              <a:rPr lang="en-IN" dirty="0" err="1">
                <a:latin typeface="Times New Roman" panose="02020603050405020304" pitchFamily="18" charset="0"/>
                <a:cs typeface="Times New Roman" panose="02020603050405020304" pitchFamily="18" charset="0"/>
              </a:rPr>
              <a:t>Ramu</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22N71A6648 – B. </a:t>
            </a:r>
            <a:r>
              <a:rPr lang="en-IN" dirty="0" err="1">
                <a:latin typeface="Times New Roman" panose="02020603050405020304" pitchFamily="18" charset="0"/>
                <a:cs typeface="Times New Roman" panose="02020603050405020304" pitchFamily="18" charset="0"/>
              </a:rPr>
              <a:t>Rinka</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22N71A6629 – </a:t>
            </a:r>
            <a:r>
              <a:rPr lang="en-IN" dirty="0" err="1">
                <a:latin typeface="Times New Roman" panose="02020603050405020304" pitchFamily="18" charset="0"/>
                <a:cs typeface="Times New Roman" panose="02020603050405020304" pitchFamily="18" charset="0"/>
              </a:rPr>
              <a:t>Mohamadd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Ajaz</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22N71A6601 – Shivani</a:t>
            </a:r>
          </a:p>
        </p:txBody>
      </p:sp>
      <p:sp>
        <p:nvSpPr>
          <p:cNvPr id="3" name="TextBox 2">
            <a:extLst>
              <a:ext uri="{FF2B5EF4-FFF2-40B4-BE49-F238E27FC236}">
                <a16:creationId xmlns:a16="http://schemas.microsoft.com/office/drawing/2014/main" id="{ED5CACB4-37C9-7662-EF87-9C60903DCF04}"/>
              </a:ext>
            </a:extLst>
          </p:cNvPr>
          <p:cNvSpPr txBox="1"/>
          <p:nvPr/>
        </p:nvSpPr>
        <p:spPr>
          <a:xfrm>
            <a:off x="4145786" y="1501353"/>
            <a:ext cx="3970959" cy="430887"/>
          </a:xfrm>
          <a:prstGeom prst="rect">
            <a:avLst/>
          </a:prstGeom>
          <a:noFill/>
        </p:spPr>
        <p:txBody>
          <a:bodyPr wrap="none" rtlCol="0">
            <a:spAutoFit/>
          </a:bodyPr>
          <a:lstStyle/>
          <a:p>
            <a:r>
              <a:rPr lang="en-US" sz="2200"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Department of CSE (AI&amp;ML)</a:t>
            </a:r>
            <a:endParaRPr lang="en-IN" sz="2200"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1026" name="Picture 2" descr="DRK Institute of Science and Technology">
            <a:extLst>
              <a:ext uri="{FF2B5EF4-FFF2-40B4-BE49-F238E27FC236}">
                <a16:creationId xmlns:a16="http://schemas.microsoft.com/office/drawing/2014/main" id="{720FF2B1-C6A0-41F6-81C7-3764CF7B6A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2353" y="113684"/>
            <a:ext cx="9416572" cy="11334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250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F0C52-7F94-CADF-D2C9-B26AAF3E202F}"/>
              </a:ext>
            </a:extLst>
          </p:cNvPr>
          <p:cNvSpPr>
            <a:spLocks noGrp="1"/>
          </p:cNvSpPr>
          <p:nvPr>
            <p:ph type="title"/>
          </p:nvPr>
        </p:nvSpPr>
        <p:spPr>
          <a:xfrm>
            <a:off x="838200" y="288925"/>
            <a:ext cx="10515600" cy="1325563"/>
          </a:xfrm>
        </p:spPr>
        <p:txBody>
          <a:bodyPr>
            <a:normAutofit/>
          </a:bodyPr>
          <a:lstStyle/>
          <a:p>
            <a:pPr algn="ctr"/>
            <a:r>
              <a:rPr lang="en-US" sz="3800" b="1" dirty="0">
                <a:latin typeface="Times New Roman" panose="02020603050405020304" pitchFamily="18" charset="0"/>
                <a:cs typeface="Times New Roman" panose="02020603050405020304" pitchFamily="18" charset="0"/>
              </a:rPr>
              <a:t>ABSTRACT</a:t>
            </a:r>
            <a:endParaRPr lang="en-IN" sz="3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571213E-6573-4897-FAAA-0CB0F76C11C6}"/>
              </a:ext>
            </a:extLst>
          </p:cNvPr>
          <p:cNvSpPr>
            <a:spLocks noGrp="1"/>
          </p:cNvSpPr>
          <p:nvPr>
            <p:ph idx="1"/>
          </p:nvPr>
        </p:nvSpPr>
        <p:spPr>
          <a:xfrm>
            <a:off x="838200" y="1724024"/>
            <a:ext cx="10515600" cy="4351338"/>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In today's evolving educational landscape, virtual classrooms demand innovative tools to enhance engagement and inclusivity. This project introduces a novel approach by integrating air-based drawing and live captioning to create a more interactive and accessible learning environment. Using Computer Vision for precise gesture recognition and hand tracking, supported by Mediapipe, the system enables instructors to draw in mid-air, with their movements captured and rendered in real-time onto a virtual canvas. Additionally, speech-to-text technology converts spoken content into live captions, ensuring inclusivity for individuals with hearing impairments or language barriers. By seamlessly combining visual and textual elements, this project enhances the clarity and effectiveness of online teaching, catering to diverse learning styles. Its versatile application extends beyond classrooms to collaborative learning environments and interactive e-learning platforms, paving the way for future innovations in digital education.</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Keywords</a:t>
            </a:r>
            <a:r>
              <a:rPr lang="en-US" sz="2000" dirty="0">
                <a:latin typeface="Times New Roman" panose="02020603050405020304" pitchFamily="18" charset="0"/>
                <a:cs typeface="Times New Roman" panose="02020603050405020304" pitchFamily="18" charset="0"/>
              </a:rPr>
              <a:t>: Virtual Canvas, Live Captions, Computer Vision, Speech-to-Text technology, Hand Gestures Recognition.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324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CB62B-F961-1693-1B6F-306C51A11F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0CAD7A-DE7A-5D3A-EB5B-1533A6926735}"/>
              </a:ext>
            </a:extLst>
          </p:cNvPr>
          <p:cNvSpPr>
            <a:spLocks noGrp="1"/>
          </p:cNvSpPr>
          <p:nvPr>
            <p:ph type="title"/>
          </p:nvPr>
        </p:nvSpPr>
        <p:spPr>
          <a:xfrm>
            <a:off x="838200" y="288925"/>
            <a:ext cx="10515600" cy="1325563"/>
          </a:xfrm>
        </p:spPr>
        <p:txBody>
          <a:bodyPr>
            <a:normAutofit/>
          </a:bodyPr>
          <a:lstStyle/>
          <a:p>
            <a:pPr algn="ctr"/>
            <a:r>
              <a:rPr lang="en-US" sz="3800" b="1" dirty="0">
                <a:latin typeface="Times New Roman" panose="02020603050405020304" pitchFamily="18" charset="0"/>
                <a:cs typeface="Times New Roman" panose="02020603050405020304" pitchFamily="18" charset="0"/>
              </a:rPr>
              <a:t>OBJECTIVES</a:t>
            </a:r>
            <a:endParaRPr lang="en-IN" sz="3800"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4AFB0638-854B-C84B-BB51-E0B231A254CD}"/>
              </a:ext>
            </a:extLst>
          </p:cNvPr>
          <p:cNvSpPr>
            <a:spLocks noGrp="1" noChangeArrowheads="1"/>
          </p:cNvSpPr>
          <p:nvPr>
            <p:ph idx="1"/>
          </p:nvPr>
        </p:nvSpPr>
        <p:spPr bwMode="auto">
          <a:xfrm>
            <a:off x="508000" y="1752987"/>
            <a:ext cx="690880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a Touchless Drawing System</a:t>
            </a:r>
            <a:r>
              <a:rPr lang="en-US" altLang="en-US" sz="1800" dirty="0">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 users to draw on a virtual canvas using hand gestures, eliminating the need for traditional input devices.</a:t>
            </a:r>
          </a:p>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Real-Time Hand Gesture Recognition</a:t>
            </a:r>
            <a:r>
              <a:rPr lang="en-US" altLang="en-US" sz="1800" dirty="0">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computer vision techniques to accurately detect and track hand movements and gestures in real-time.</a:t>
            </a:r>
          </a:p>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Facilitate Multiple Drawing Modes</a:t>
            </a:r>
            <a:r>
              <a:rPr lang="en-US" altLang="en-US" sz="1800" dirty="0">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functionality for switching between draw, erase, and move modes seamlessly.</a:t>
            </a:r>
          </a:p>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 Customization Options</a:t>
            </a:r>
            <a:r>
              <a:rPr lang="en-US" altLang="en-US" sz="1800" dirty="0">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 users to choose ink colors and save their drawings.</a:t>
            </a:r>
          </a:p>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 a Dual-Screen Interface</a:t>
            </a:r>
            <a:r>
              <a:rPr lang="en-US" altLang="en-US" sz="1800" dirty="0">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Display the live camera feed and the virtual canvas simultaneously for better user interaction and feedback.</a:t>
            </a:r>
          </a:p>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 User-Friendly Interaction</a:t>
            </a:r>
            <a:r>
              <a:rPr lang="en-US" altLang="en-US" sz="1800" dirty="0">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Design an intuitive and easy-to-use interface, including on-screen buttons for mode selection and exiting the application.</a:t>
            </a:r>
          </a:p>
        </p:txBody>
      </p:sp>
      <p:pic>
        <p:nvPicPr>
          <p:cNvPr id="5" name="Picture 4">
            <a:extLst>
              <a:ext uri="{FF2B5EF4-FFF2-40B4-BE49-F238E27FC236}">
                <a16:creationId xmlns:a16="http://schemas.microsoft.com/office/drawing/2014/main" id="{17984759-5957-1B7F-66CB-CCEEA4F1316F}"/>
              </a:ext>
            </a:extLst>
          </p:cNvPr>
          <p:cNvPicPr>
            <a:picLocks noChangeAspect="1"/>
          </p:cNvPicPr>
          <p:nvPr/>
        </p:nvPicPr>
        <p:blipFill>
          <a:blip r:embed="rId2"/>
          <a:stretch>
            <a:fillRect/>
          </a:stretch>
        </p:blipFill>
        <p:spPr>
          <a:xfrm>
            <a:off x="7603067" y="1614487"/>
            <a:ext cx="4080933" cy="4524315"/>
          </a:xfrm>
          <a:prstGeom prst="rect">
            <a:avLst/>
          </a:prstGeom>
        </p:spPr>
      </p:pic>
    </p:spTree>
    <p:extLst>
      <p:ext uri="{BB962C8B-B14F-4D97-AF65-F5344CB8AC3E}">
        <p14:creationId xmlns:p14="http://schemas.microsoft.com/office/powerpoint/2010/main" val="760725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3CEE3-1055-EF86-E375-2B5CBA73CF69}"/>
              </a:ext>
            </a:extLst>
          </p:cNvPr>
          <p:cNvSpPr>
            <a:spLocks noGrp="1"/>
          </p:cNvSpPr>
          <p:nvPr>
            <p:ph type="title"/>
          </p:nvPr>
        </p:nvSpPr>
        <p:spPr>
          <a:xfrm>
            <a:off x="838200" y="111126"/>
            <a:ext cx="10515600" cy="1325563"/>
          </a:xfrm>
        </p:spPr>
        <p:txBody>
          <a:bodyPr>
            <a:normAutofit/>
          </a:bodyPr>
          <a:lstStyle/>
          <a:p>
            <a:pPr algn="ctr"/>
            <a:r>
              <a:rPr lang="en-US" sz="3800" b="1" dirty="0">
                <a:latin typeface="Times New Roman" panose="02020603050405020304" pitchFamily="18" charset="0"/>
                <a:cs typeface="Times New Roman" panose="02020603050405020304" pitchFamily="18" charset="0"/>
              </a:rPr>
              <a:t>LITERATURE REVIEW</a:t>
            </a:r>
            <a:endParaRPr lang="en-IN" sz="3800" b="1"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057A0ADD-6DC7-DF6E-66D1-919CE83B584B}"/>
              </a:ext>
            </a:extLst>
          </p:cNvPr>
          <p:cNvGraphicFramePr>
            <a:graphicFrameLocks noGrp="1"/>
          </p:cNvGraphicFramePr>
          <p:nvPr>
            <p:ph idx="1"/>
            <p:extLst>
              <p:ext uri="{D42A27DB-BD31-4B8C-83A1-F6EECF244321}">
                <p14:modId xmlns:p14="http://schemas.microsoft.com/office/powerpoint/2010/main" val="2341087890"/>
              </p:ext>
            </p:extLst>
          </p:nvPr>
        </p:nvGraphicFramePr>
        <p:xfrm>
          <a:off x="381000" y="1436689"/>
          <a:ext cx="11430000" cy="5059680"/>
        </p:xfrm>
        <a:graphic>
          <a:graphicData uri="http://schemas.openxmlformats.org/drawingml/2006/table">
            <a:tbl>
              <a:tblPr firstRow="1" bandRow="1">
                <a:tableStyleId>{5C22544A-7EE6-4342-B048-85BDC9FD1C3A}</a:tableStyleId>
              </a:tblPr>
              <a:tblGrid>
                <a:gridCol w="846667">
                  <a:extLst>
                    <a:ext uri="{9D8B030D-6E8A-4147-A177-3AD203B41FA5}">
                      <a16:colId xmlns:a16="http://schemas.microsoft.com/office/drawing/2014/main" val="464067648"/>
                    </a:ext>
                  </a:extLst>
                </a:gridCol>
                <a:gridCol w="1456266">
                  <a:extLst>
                    <a:ext uri="{9D8B030D-6E8A-4147-A177-3AD203B41FA5}">
                      <a16:colId xmlns:a16="http://schemas.microsoft.com/office/drawing/2014/main" val="807143653"/>
                    </a:ext>
                  </a:extLst>
                </a:gridCol>
                <a:gridCol w="3208867">
                  <a:extLst>
                    <a:ext uri="{9D8B030D-6E8A-4147-A177-3AD203B41FA5}">
                      <a16:colId xmlns:a16="http://schemas.microsoft.com/office/drawing/2014/main" val="1367089397"/>
                    </a:ext>
                  </a:extLst>
                </a:gridCol>
                <a:gridCol w="3022600">
                  <a:extLst>
                    <a:ext uri="{9D8B030D-6E8A-4147-A177-3AD203B41FA5}">
                      <a16:colId xmlns:a16="http://schemas.microsoft.com/office/drawing/2014/main" val="1942966235"/>
                    </a:ext>
                  </a:extLst>
                </a:gridCol>
                <a:gridCol w="2895600">
                  <a:extLst>
                    <a:ext uri="{9D8B030D-6E8A-4147-A177-3AD203B41FA5}">
                      <a16:colId xmlns:a16="http://schemas.microsoft.com/office/drawing/2014/main" val="2179166699"/>
                    </a:ext>
                  </a:extLst>
                </a:gridCol>
              </a:tblGrid>
              <a:tr h="370840">
                <a:tc>
                  <a:txBody>
                    <a:bodyPr/>
                    <a:lstStyle/>
                    <a:p>
                      <a:r>
                        <a:rPr lang="en-US" dirty="0">
                          <a:latin typeface="Times New Roman" panose="02020603050405020304" pitchFamily="18" charset="0"/>
                          <a:cs typeface="Times New Roman" panose="02020603050405020304" pitchFamily="18" charset="0"/>
                        </a:rPr>
                        <a:t>S. No</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Year of Publication</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Title of the Paper</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Methods Used</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Limitations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25369478"/>
                  </a:ext>
                </a:extLst>
              </a:tr>
              <a:tr h="370840">
                <a:tc>
                  <a:txBody>
                    <a:bodyPr/>
                    <a:lstStyle/>
                    <a:p>
                      <a:r>
                        <a:rPr lang="en-US"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2022</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Virtual Canvas for Interactive learning using OpenCV</a:t>
                      </a:r>
                      <a:endParaRPr lang="en-IN"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Object tracking using color detection, Frame reading and Canvas creation, Counter Detection, Shortcut keys for interaction.</a:t>
                      </a:r>
                      <a:endParaRPr lang="en-IN" sz="16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Performance degradation in cluttered backgrounds.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Dependency on Camera Quality.</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No Gesture Recognition.</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50304589"/>
                  </a:ext>
                </a:extLst>
              </a:tr>
              <a:tr h="370840">
                <a:tc>
                  <a:txBody>
                    <a:bodyPr/>
                    <a:lstStyle/>
                    <a:p>
                      <a:r>
                        <a:rPr lang="en-US" dirty="0">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2021</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On-Air Hand-Drawn Doodles for IoT Devices Authentication During COVID-19</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Dynamic Hand Air Gesture Recognition using CNN, Kalman filter, Background subtraction, Adaptive training with Artificial Images.</a:t>
                      </a:r>
                      <a:endParaRPr lang="en-IN" sz="16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Ineffective in low light or dark conditions.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Challenges with hand stability and for recognition.</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No proper erase, write modes to toggle.</a:t>
                      </a:r>
                    </a:p>
                  </a:txBody>
                  <a:tcPr/>
                </a:tc>
                <a:extLst>
                  <a:ext uri="{0D108BD9-81ED-4DB2-BD59-A6C34878D82A}">
                    <a16:rowId xmlns:a16="http://schemas.microsoft.com/office/drawing/2014/main" val="3963120261"/>
                  </a:ext>
                </a:extLst>
              </a:tr>
              <a:tr h="370840">
                <a:tc>
                  <a:txBody>
                    <a:bodyPr/>
                    <a:lstStyle/>
                    <a:p>
                      <a:r>
                        <a:rPr lang="en-US" dirty="0">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2020</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Study on Hand Gesture Recognition by using Machine Learning</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Glove based signal processing, Non contact gesture recognition, Appearance and Model based methods, K-NN and SVM machine learning models.</a:t>
                      </a:r>
                      <a:endParaRPr lang="en-IN" sz="16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Complexity in algorithmic designs.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Difficulty to recognise wide range of hand gestures.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Real-time gestures faces a lot of delay.</a:t>
                      </a:r>
                    </a:p>
                  </a:txBody>
                  <a:tcPr/>
                </a:tc>
                <a:extLst>
                  <a:ext uri="{0D108BD9-81ED-4DB2-BD59-A6C34878D82A}">
                    <a16:rowId xmlns:a16="http://schemas.microsoft.com/office/drawing/2014/main" val="3484584917"/>
                  </a:ext>
                </a:extLst>
              </a:tr>
            </a:tbl>
          </a:graphicData>
        </a:graphic>
      </p:graphicFrame>
    </p:spTree>
    <p:extLst>
      <p:ext uri="{BB962C8B-B14F-4D97-AF65-F5344CB8AC3E}">
        <p14:creationId xmlns:p14="http://schemas.microsoft.com/office/powerpoint/2010/main" val="31771319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AC7E2-FEE6-B9DF-1A50-2AF9899C66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54F9FA-25A6-3786-63D4-277327BA91BD}"/>
              </a:ext>
            </a:extLst>
          </p:cNvPr>
          <p:cNvSpPr>
            <a:spLocks noGrp="1"/>
          </p:cNvSpPr>
          <p:nvPr>
            <p:ph type="title"/>
          </p:nvPr>
        </p:nvSpPr>
        <p:spPr>
          <a:xfrm>
            <a:off x="838200" y="111124"/>
            <a:ext cx="10515600" cy="1325563"/>
          </a:xfrm>
        </p:spPr>
        <p:txBody>
          <a:bodyPr>
            <a:normAutofit/>
          </a:bodyPr>
          <a:lstStyle/>
          <a:p>
            <a:pPr algn="ctr"/>
            <a:r>
              <a:rPr lang="en-US" sz="3800" b="1" dirty="0">
                <a:latin typeface="Times New Roman" panose="02020603050405020304" pitchFamily="18" charset="0"/>
                <a:cs typeface="Times New Roman" panose="02020603050405020304" pitchFamily="18" charset="0"/>
              </a:rPr>
              <a:t>LITERATURE REVIEW</a:t>
            </a:r>
            <a:endParaRPr lang="en-IN" sz="3800" b="1"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F3F004BC-71D0-BD8D-E4A0-EFB7922DC873}"/>
              </a:ext>
            </a:extLst>
          </p:cNvPr>
          <p:cNvGraphicFramePr>
            <a:graphicFrameLocks noGrp="1"/>
          </p:cNvGraphicFramePr>
          <p:nvPr>
            <p:ph idx="1"/>
            <p:extLst>
              <p:ext uri="{D42A27DB-BD31-4B8C-83A1-F6EECF244321}">
                <p14:modId xmlns:p14="http://schemas.microsoft.com/office/powerpoint/2010/main" val="3165681178"/>
              </p:ext>
            </p:extLst>
          </p:nvPr>
        </p:nvGraphicFramePr>
        <p:xfrm>
          <a:off x="381000" y="1436687"/>
          <a:ext cx="11430000" cy="5059680"/>
        </p:xfrm>
        <a:graphic>
          <a:graphicData uri="http://schemas.openxmlformats.org/drawingml/2006/table">
            <a:tbl>
              <a:tblPr firstRow="1" bandRow="1">
                <a:tableStyleId>{5C22544A-7EE6-4342-B048-85BDC9FD1C3A}</a:tableStyleId>
              </a:tblPr>
              <a:tblGrid>
                <a:gridCol w="846667">
                  <a:extLst>
                    <a:ext uri="{9D8B030D-6E8A-4147-A177-3AD203B41FA5}">
                      <a16:colId xmlns:a16="http://schemas.microsoft.com/office/drawing/2014/main" val="464067648"/>
                    </a:ext>
                  </a:extLst>
                </a:gridCol>
                <a:gridCol w="1591733">
                  <a:extLst>
                    <a:ext uri="{9D8B030D-6E8A-4147-A177-3AD203B41FA5}">
                      <a16:colId xmlns:a16="http://schemas.microsoft.com/office/drawing/2014/main" val="807143653"/>
                    </a:ext>
                  </a:extLst>
                </a:gridCol>
                <a:gridCol w="3276600">
                  <a:extLst>
                    <a:ext uri="{9D8B030D-6E8A-4147-A177-3AD203B41FA5}">
                      <a16:colId xmlns:a16="http://schemas.microsoft.com/office/drawing/2014/main" val="1367089397"/>
                    </a:ext>
                  </a:extLst>
                </a:gridCol>
                <a:gridCol w="2980267">
                  <a:extLst>
                    <a:ext uri="{9D8B030D-6E8A-4147-A177-3AD203B41FA5}">
                      <a16:colId xmlns:a16="http://schemas.microsoft.com/office/drawing/2014/main" val="1942966235"/>
                    </a:ext>
                  </a:extLst>
                </a:gridCol>
                <a:gridCol w="2734733">
                  <a:extLst>
                    <a:ext uri="{9D8B030D-6E8A-4147-A177-3AD203B41FA5}">
                      <a16:colId xmlns:a16="http://schemas.microsoft.com/office/drawing/2014/main" val="2179166699"/>
                    </a:ext>
                  </a:extLst>
                </a:gridCol>
              </a:tblGrid>
              <a:tr h="370840">
                <a:tc>
                  <a:txBody>
                    <a:bodyPr/>
                    <a:lstStyle/>
                    <a:p>
                      <a:r>
                        <a:rPr lang="en-US" dirty="0">
                          <a:latin typeface="Times New Roman" panose="02020603050405020304" pitchFamily="18" charset="0"/>
                          <a:cs typeface="Times New Roman" panose="02020603050405020304" pitchFamily="18" charset="0"/>
                        </a:rPr>
                        <a:t>S. No</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Year of Publication</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Title of the Paper</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Methods Used</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Limitations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25369478"/>
                  </a:ext>
                </a:extLst>
              </a:tr>
              <a:tr h="370840">
                <a:tc>
                  <a:txBody>
                    <a:bodyPr/>
                    <a:lstStyle/>
                    <a:p>
                      <a:r>
                        <a:rPr lang="en-US" dirty="0">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2023</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Step by Step: A Gradual Approach for Dense Video Captioning</a:t>
                      </a:r>
                      <a:endParaRPr lang="en-IN"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Video encoder, Temporal Event encoder and boundary classifier, Event proposal generation, Sentence Generation</a:t>
                      </a:r>
                      <a:endParaRPr lang="en-IN" sz="16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Struggle to generalize videos.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Dependency of quality of snippet segmentation.</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Large computation effort.</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50304589"/>
                  </a:ext>
                </a:extLst>
              </a:tr>
              <a:tr h="370840">
                <a:tc>
                  <a:txBody>
                    <a:bodyPr/>
                    <a:lstStyle/>
                    <a:p>
                      <a:r>
                        <a:rPr lang="en-US" dirty="0">
                          <a:latin typeface="Times New Roman" panose="02020603050405020304" pitchFamily="18" charset="0"/>
                          <a:cs typeface="Times New Roman" panose="02020603050405020304" pitchFamily="18" charset="0"/>
                        </a:rPr>
                        <a:t>5</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2018</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Design and Implementation of User Interface through Hand Movement tracking and Gesture Recognition</a:t>
                      </a:r>
                      <a:endParaRPr lang="en-IN"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Sensor based click gesture recognition, Random forest machine learning algorithm, Data segmentation and feature extraction.</a:t>
                      </a:r>
                      <a:endParaRPr lang="en-IN" sz="16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Hindered by processing delays.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Limited Gesture types.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Variability in the threshold of recognition system.</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63120261"/>
                  </a:ext>
                </a:extLst>
              </a:tr>
              <a:tr h="370840">
                <a:tc>
                  <a:txBody>
                    <a:bodyPr/>
                    <a:lstStyle/>
                    <a:p>
                      <a:r>
                        <a:rPr lang="en-US" dirty="0">
                          <a:latin typeface="Times New Roman" panose="02020603050405020304" pitchFamily="18" charset="0"/>
                          <a:cs typeface="Times New Roman" panose="02020603050405020304" pitchFamily="18" charset="0"/>
                        </a:rPr>
                        <a:t>6</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2017</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latin typeface="Times New Roman" panose="02020603050405020304" pitchFamily="18" charset="0"/>
                          <a:cs typeface="Times New Roman" panose="02020603050405020304" pitchFamily="18" charset="0"/>
                        </a:rPr>
                        <a:t>AirScript</a:t>
                      </a:r>
                      <a:r>
                        <a:rPr lang="en-US" sz="1800" dirty="0">
                          <a:latin typeface="Times New Roman" panose="02020603050405020304" pitchFamily="18" charset="0"/>
                          <a:cs typeface="Times New Roman" panose="02020603050405020304" pitchFamily="18" charset="0"/>
                        </a:rPr>
                        <a:t> – Creating Documents in Air</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2-DifViz methods, GRU Networks, CNNs for visual representation as images, Myo- armband data collections.</a:t>
                      </a:r>
                    </a:p>
                  </a:txBody>
                  <a:tcPr/>
                </a:tc>
                <a:tc>
                  <a:txBody>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Need of removing the reference surface.</a:t>
                      </a:r>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It is only limited to digits data and limited dataset taken.</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Relies on highly accurate hand movements capturing.</a:t>
                      </a:r>
                    </a:p>
                  </a:txBody>
                  <a:tcPr/>
                </a:tc>
                <a:extLst>
                  <a:ext uri="{0D108BD9-81ED-4DB2-BD59-A6C34878D82A}">
                    <a16:rowId xmlns:a16="http://schemas.microsoft.com/office/drawing/2014/main" val="3484584917"/>
                  </a:ext>
                </a:extLst>
              </a:tr>
            </a:tbl>
          </a:graphicData>
        </a:graphic>
      </p:graphicFrame>
    </p:spTree>
    <p:extLst>
      <p:ext uri="{BB962C8B-B14F-4D97-AF65-F5344CB8AC3E}">
        <p14:creationId xmlns:p14="http://schemas.microsoft.com/office/powerpoint/2010/main" val="2497895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AAC86-CFCF-412D-1D87-9B8CCCE6944D}"/>
              </a:ext>
            </a:extLst>
          </p:cNvPr>
          <p:cNvSpPr>
            <a:spLocks noGrp="1"/>
          </p:cNvSpPr>
          <p:nvPr>
            <p:ph type="title"/>
          </p:nvPr>
        </p:nvSpPr>
        <p:spPr/>
        <p:txBody>
          <a:bodyPr>
            <a:normAutofit/>
          </a:bodyPr>
          <a:lstStyle/>
          <a:p>
            <a:pPr algn="ctr"/>
            <a:r>
              <a:rPr lang="en-US" sz="3800" b="1" dirty="0">
                <a:latin typeface="Times New Roman" panose="02020603050405020304" pitchFamily="18" charset="0"/>
                <a:cs typeface="Times New Roman" panose="02020603050405020304" pitchFamily="18" charset="0"/>
              </a:rPr>
              <a:t>PROPOSED SOLUTION</a:t>
            </a:r>
            <a:endParaRPr lang="en-IN" sz="3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3C3E8CA-DA5D-DCA4-733D-5BE75045E0E4}"/>
              </a:ext>
            </a:extLst>
          </p:cNvPr>
          <p:cNvSpPr>
            <a:spLocks noGrp="1"/>
          </p:cNvSpPr>
          <p:nvPr>
            <p:ph idx="1"/>
          </p:nvPr>
        </p:nvSpPr>
        <p:spPr>
          <a:xfrm>
            <a:off x="838200" y="1876425"/>
            <a:ext cx="10515600" cy="4351338"/>
          </a:xfrm>
        </p:spPr>
        <p:txBody>
          <a:bodyPr>
            <a:normAutofit/>
          </a:bodyPr>
          <a:lstStyle/>
          <a:p>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Gesture Recognition: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employs precise tracking of hand movements using advanced OpenCV and Mediapipe technology for accuracy.</a:t>
            </a:r>
          </a:p>
          <a:p>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Live Captions: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Real-time conversion of spoken content into text captions enhances accessibility for all learners in the classroom using NLP.</a:t>
            </a:r>
          </a:p>
          <a:p>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Interactive Virtual Canvas: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dynamic and engaging interface allows for spontaneous teaching methods, improving concept illustration. </a:t>
            </a:r>
          </a:p>
          <a:p>
            <a:r>
              <a:rPr lang="en-US" sz="2000" b="1" dirty="0">
                <a:latin typeface="Times New Roman" panose="02020603050405020304" pitchFamily="18" charset="0"/>
                <a:cs typeface="Times New Roman" panose="02020603050405020304" pitchFamily="18" charset="0"/>
              </a:rPr>
              <a:t>Mouse Click for Controlled Drawing</a:t>
            </a:r>
            <a:r>
              <a:rPr lang="en-US" sz="2000" dirty="0">
                <a:latin typeface="Times New Roman" panose="02020603050405020304" pitchFamily="18" charset="0"/>
                <a:cs typeface="Times New Roman" panose="02020603050405020304" pitchFamily="18" charset="0"/>
              </a:rPr>
              <a:t>: Introduce a feature that requires the user to hold down a mouse click while drawing in the air to prevent unintended drawing.</a:t>
            </a:r>
          </a:p>
          <a:p>
            <a:r>
              <a:rPr lang="en-US" sz="2000" b="1" dirty="0">
                <a:latin typeface="Times New Roman" panose="02020603050405020304" pitchFamily="18" charset="0"/>
                <a:cs typeface="Times New Roman" panose="02020603050405020304" pitchFamily="18" charset="0"/>
              </a:rPr>
              <a:t>Standard Camera without Additional Sensors</a:t>
            </a:r>
            <a:r>
              <a:rPr lang="en-US" sz="2000" dirty="0">
                <a:latin typeface="Times New Roman" panose="02020603050405020304" pitchFamily="18" charset="0"/>
                <a:cs typeface="Times New Roman" panose="02020603050405020304" pitchFamily="18" charset="0"/>
              </a:rPr>
              <a:t>: Implement the model using a regular webcam, eliminating the need for specialized sensors.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2703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81699-20C8-5744-7C2C-3D3D8DCFFAB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AB341EA-72E8-25F2-39D7-F9D665CEB542}"/>
              </a:ext>
            </a:extLst>
          </p:cNvPr>
          <p:cNvSpPr>
            <a:spLocks noGrp="1"/>
          </p:cNvSpPr>
          <p:nvPr>
            <p:ph type="title"/>
          </p:nvPr>
        </p:nvSpPr>
        <p:spPr/>
        <p:txBody>
          <a:bodyPr>
            <a:normAutofit/>
          </a:bodyPr>
          <a:lstStyle/>
          <a:p>
            <a:pPr algn="ctr"/>
            <a:r>
              <a:rPr lang="en-US" sz="3800" b="1" dirty="0">
                <a:latin typeface="Times New Roman" panose="02020603050405020304" pitchFamily="18" charset="0"/>
                <a:cs typeface="Times New Roman" panose="02020603050405020304" pitchFamily="18" charset="0"/>
              </a:rPr>
              <a:t>REQUIREMENTS</a:t>
            </a:r>
            <a:endParaRPr lang="en-IN" sz="3800" b="1"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C2D8AF7E-078E-FF45-F432-C66DC1B6BC58}"/>
              </a:ext>
            </a:extLst>
          </p:cNvPr>
          <p:cNvSpPr>
            <a:spLocks noGrp="1"/>
          </p:cNvSpPr>
          <p:nvPr>
            <p:ph type="body" idx="1"/>
          </p:nvPr>
        </p:nvSpPr>
        <p:spPr>
          <a:xfrm>
            <a:off x="836612" y="1444097"/>
            <a:ext cx="5157787" cy="823912"/>
          </a:xfrm>
        </p:spPr>
        <p:txBody>
          <a:bodyPr/>
          <a:lstStyle/>
          <a:p>
            <a:pPr algn="ctr"/>
            <a:r>
              <a:rPr lang="en-US" dirty="0">
                <a:latin typeface="Times New Roman" panose="02020603050405020304" pitchFamily="18" charset="0"/>
                <a:cs typeface="Times New Roman" panose="02020603050405020304" pitchFamily="18" charset="0"/>
              </a:rPr>
              <a:t>HARDWARE</a:t>
            </a:r>
            <a:endParaRPr lang="en-IN" dirty="0">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a16="http://schemas.microsoft.com/office/drawing/2014/main" id="{C7360172-F837-7796-4380-1819D565B579}"/>
              </a:ext>
            </a:extLst>
          </p:cNvPr>
          <p:cNvSpPr>
            <a:spLocks noGrp="1"/>
          </p:cNvSpPr>
          <p:nvPr>
            <p:ph type="body" sz="quarter" idx="3"/>
          </p:nvPr>
        </p:nvSpPr>
        <p:spPr>
          <a:xfrm>
            <a:off x="6169024" y="1445156"/>
            <a:ext cx="5183188" cy="823912"/>
          </a:xfrm>
        </p:spPr>
        <p:txBody>
          <a:bodyPr/>
          <a:lstStyle/>
          <a:p>
            <a:pPr algn="ctr"/>
            <a:r>
              <a:rPr lang="en-US" dirty="0">
                <a:latin typeface="Times New Roman" panose="02020603050405020304" pitchFamily="18" charset="0"/>
                <a:cs typeface="Times New Roman" panose="02020603050405020304" pitchFamily="18" charset="0"/>
              </a:rPr>
              <a:t>SOFTWARE</a:t>
            </a:r>
            <a:endParaRPr lang="en-IN" dirty="0">
              <a:latin typeface="Times New Roman" panose="02020603050405020304" pitchFamily="18" charset="0"/>
              <a:cs typeface="Times New Roman" panose="02020603050405020304" pitchFamily="18" charset="0"/>
            </a:endParaRPr>
          </a:p>
        </p:txBody>
      </p:sp>
      <p:sp>
        <p:nvSpPr>
          <p:cNvPr id="9" name="Rectangle 1">
            <a:extLst>
              <a:ext uri="{FF2B5EF4-FFF2-40B4-BE49-F238E27FC236}">
                <a16:creationId xmlns:a16="http://schemas.microsoft.com/office/drawing/2014/main" id="{F208A93D-BFA3-EDA0-29C8-5443EE3BF906}"/>
              </a:ext>
            </a:extLst>
          </p:cNvPr>
          <p:cNvSpPr>
            <a:spLocks noGrp="1" noChangeArrowheads="1"/>
          </p:cNvSpPr>
          <p:nvPr>
            <p:ph sz="quarter" idx="4"/>
          </p:nvPr>
        </p:nvSpPr>
        <p:spPr bwMode="auto">
          <a:xfrm>
            <a:off x="6194427" y="2505075"/>
            <a:ext cx="5180012"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fontAlgn="base" hangingPunct="0">
              <a:lnSpc>
                <a:spcPct val="100000"/>
              </a:lnSpc>
              <a:spcBef>
                <a:spcPct val="0"/>
              </a:spcBef>
              <a:spcAft>
                <a:spcPct val="0"/>
              </a:spcAft>
              <a:buFont typeface="+mj-lt"/>
              <a:buAutoNum type="arabicPeriod"/>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Operating System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Windows</a:t>
            </a:r>
            <a:r>
              <a:rPr lang="en-US" altLang="en-US" sz="2000" dirty="0">
                <a:latin typeface="Times New Roman" panose="02020603050405020304" pitchFamily="18" charset="0"/>
                <a:cs typeface="Times New Roman" panose="02020603050405020304" pitchFamily="18" charset="0"/>
              </a:rPr>
              <a:t> or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macOS</a:t>
            </a:r>
          </a:p>
          <a:p>
            <a:pPr marL="342900" indent="-342900" eaLnBrk="0" fontAlgn="base" hangingPunct="0">
              <a:lnSpc>
                <a:spcPct val="100000"/>
              </a:lnSpc>
              <a:spcBef>
                <a:spcPct val="0"/>
              </a:spcBef>
              <a:spcAft>
                <a:spcPct val="0"/>
              </a:spcAft>
              <a:buFont typeface="+mj-lt"/>
              <a:buAutoNum type="arabicPeriod"/>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Programming Languages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Python 3.x</a:t>
            </a:r>
          </a:p>
          <a:p>
            <a:pPr marL="342900" indent="-342900" eaLnBrk="0" fontAlgn="base" hangingPunct="0">
              <a:lnSpc>
                <a:spcPct val="100000"/>
              </a:lnSpc>
              <a:spcBef>
                <a:spcPct val="0"/>
              </a:spcBef>
              <a:spcAft>
                <a:spcPct val="0"/>
              </a:spcAft>
              <a:buFont typeface="+mj-lt"/>
              <a:buAutoNum type="arabicPeriod"/>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Libraries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eaLnBrk="0" fontAlgn="base" hangingPunct="0">
              <a:lnSpc>
                <a:spcPct val="100000"/>
              </a:lnSpc>
              <a:spcBef>
                <a:spcPct val="0"/>
              </a:spcBef>
              <a:spcAft>
                <a:spcPct val="0"/>
              </a:spcAf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OpenCV</a:t>
            </a:r>
          </a:p>
          <a:p>
            <a:pPr eaLnBrk="0" fontAlgn="base" hangingPunct="0">
              <a:lnSpc>
                <a:spcPct val="100000"/>
              </a:lnSpc>
              <a:spcBef>
                <a:spcPct val="0"/>
              </a:spcBef>
              <a:spcAft>
                <a:spcPct val="0"/>
              </a:spcAf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Mediapipe</a:t>
            </a:r>
            <a:endParaRPr lang="en-US" altLang="en-US" sz="20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NumPy</a:t>
            </a:r>
          </a:p>
          <a:p>
            <a:pPr eaLnBrk="0" fontAlgn="base" hangingPunct="0">
              <a:lnSpc>
                <a:spcPct val="100000"/>
              </a:lnSpc>
              <a:spcBef>
                <a:spcPct val="0"/>
              </a:spcBef>
              <a:spcAft>
                <a:spcPct val="0"/>
              </a:spcAft>
            </a:pP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SpeechRecognition</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Threading</a:t>
            </a:r>
          </a:p>
          <a:p>
            <a:pPr marL="0" indent="0" eaLnBrk="0" fontAlgn="base" hangingPunct="0">
              <a:lnSpc>
                <a:spcPct val="100000"/>
              </a:lnSpc>
              <a:spcBef>
                <a:spcPct val="0"/>
              </a:spcBef>
              <a:spcAft>
                <a:spcPct val="0"/>
              </a:spcAft>
              <a:buNone/>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IDE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VS Code or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Jupyter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Notebook</a:t>
            </a:r>
          </a:p>
        </p:txBody>
      </p:sp>
      <p:sp>
        <p:nvSpPr>
          <p:cNvPr id="10" name="Rectangle 2">
            <a:extLst>
              <a:ext uri="{FF2B5EF4-FFF2-40B4-BE49-F238E27FC236}">
                <a16:creationId xmlns:a16="http://schemas.microsoft.com/office/drawing/2014/main" id="{DCAC2D31-6371-A2E8-041D-3A4109F0920A}"/>
              </a:ext>
            </a:extLst>
          </p:cNvPr>
          <p:cNvSpPr>
            <a:spLocks noGrp="1" noChangeArrowheads="1"/>
          </p:cNvSpPr>
          <p:nvPr>
            <p:ph sz="half" idx="2"/>
          </p:nvPr>
        </p:nvSpPr>
        <p:spPr bwMode="auto">
          <a:xfrm>
            <a:off x="839788" y="2454541"/>
            <a:ext cx="5180012"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Computer/Processor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computer with a decent processor (minimum Intel i5) for smooth execution.</a:t>
            </a: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Webcam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high-definition camera (720p or 1080p) to capture hand movements clearly for gesture recognition.</a:t>
            </a: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Microphone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microphone to capture speech for the speech-to-text functionality.</a:t>
            </a: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Graphics Card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a:t>
            </a:r>
            <a:r>
              <a:rPr lang="en-US" altLang="en-US" sz="2000" dirty="0">
                <a:latin typeface="Times New Roman" panose="02020603050405020304" pitchFamily="18" charset="0"/>
                <a:cs typeface="Times New Roman" panose="02020603050405020304" pitchFamily="18" charset="0"/>
              </a:rPr>
              <a:t>Computer with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integrated graphics card can suffice for basic operations.</a:t>
            </a: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Minimum of 8 GB RAM for running the software and handling multiple processes.</a:t>
            </a:r>
          </a:p>
        </p:txBody>
      </p:sp>
    </p:spTree>
    <p:extLst>
      <p:ext uri="{BB962C8B-B14F-4D97-AF65-F5344CB8AC3E}">
        <p14:creationId xmlns:p14="http://schemas.microsoft.com/office/powerpoint/2010/main" val="385501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36B8FD-69CA-4957-9932-7E5DC71768DE}"/>
              </a:ext>
            </a:extLst>
          </p:cNvPr>
          <p:cNvSpPr>
            <a:spLocks noGrp="1"/>
          </p:cNvSpPr>
          <p:nvPr>
            <p:ph type="title"/>
          </p:nvPr>
        </p:nvSpPr>
        <p:spPr/>
        <p:txBody>
          <a:bodyPr>
            <a:normAutofit/>
          </a:bodyPr>
          <a:lstStyle/>
          <a:p>
            <a:pPr algn="ctr"/>
            <a:r>
              <a:rPr lang="en-US" sz="3800" b="1" dirty="0">
                <a:latin typeface="Times New Roman" panose="02020603050405020304" pitchFamily="18" charset="0"/>
                <a:cs typeface="Times New Roman" panose="02020603050405020304" pitchFamily="18" charset="0"/>
              </a:rPr>
              <a:t>REQUIREMENTS</a:t>
            </a:r>
            <a:endParaRPr lang="en-IN" sz="3800" b="1"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600F6717-352D-C7C5-9008-99A5926AFF79}"/>
              </a:ext>
            </a:extLst>
          </p:cNvPr>
          <p:cNvSpPr>
            <a:spLocks noGrp="1"/>
          </p:cNvSpPr>
          <p:nvPr>
            <p:ph type="body" idx="1"/>
          </p:nvPr>
        </p:nvSpPr>
        <p:spPr>
          <a:xfrm>
            <a:off x="836612" y="1444097"/>
            <a:ext cx="5157787" cy="823912"/>
          </a:xfrm>
        </p:spPr>
        <p:txBody>
          <a:bodyPr/>
          <a:lstStyle/>
          <a:p>
            <a:pPr algn="ctr"/>
            <a:r>
              <a:rPr lang="en-US" dirty="0">
                <a:latin typeface="Times New Roman" panose="02020603050405020304" pitchFamily="18" charset="0"/>
                <a:cs typeface="Times New Roman" panose="02020603050405020304" pitchFamily="18" charset="0"/>
              </a:rPr>
              <a:t>FUNCTIONAL</a:t>
            </a:r>
            <a:endParaRPr lang="en-IN" dirty="0">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a16="http://schemas.microsoft.com/office/drawing/2014/main" id="{91BB3428-0A99-B169-68A8-6058C0946770}"/>
              </a:ext>
            </a:extLst>
          </p:cNvPr>
          <p:cNvSpPr>
            <a:spLocks noGrp="1"/>
          </p:cNvSpPr>
          <p:nvPr>
            <p:ph type="body" sz="quarter" idx="3"/>
          </p:nvPr>
        </p:nvSpPr>
        <p:spPr>
          <a:xfrm>
            <a:off x="6169024" y="1445156"/>
            <a:ext cx="5183188" cy="823912"/>
          </a:xfrm>
        </p:spPr>
        <p:txBody>
          <a:bodyPr/>
          <a:lstStyle/>
          <a:p>
            <a:pPr algn="ctr"/>
            <a:r>
              <a:rPr lang="en-US" dirty="0">
                <a:latin typeface="Times New Roman" panose="02020603050405020304" pitchFamily="18" charset="0"/>
                <a:cs typeface="Times New Roman" panose="02020603050405020304" pitchFamily="18" charset="0"/>
              </a:rPr>
              <a:t>NON-FUNCTIONAL</a:t>
            </a:r>
            <a:endParaRPr lang="en-IN" dirty="0">
              <a:latin typeface="Times New Roman" panose="02020603050405020304" pitchFamily="18" charset="0"/>
              <a:cs typeface="Times New Roman" panose="02020603050405020304" pitchFamily="18" charset="0"/>
            </a:endParaRPr>
          </a:p>
        </p:txBody>
      </p:sp>
      <p:sp>
        <p:nvSpPr>
          <p:cNvPr id="2" name="Content Placeholder 1">
            <a:extLst>
              <a:ext uri="{FF2B5EF4-FFF2-40B4-BE49-F238E27FC236}">
                <a16:creationId xmlns:a16="http://schemas.microsoft.com/office/drawing/2014/main" id="{DDE38C17-E771-0F14-DA02-24D6F20E5291}"/>
              </a:ext>
            </a:extLst>
          </p:cNvPr>
          <p:cNvSpPr>
            <a:spLocks noGrp="1" noChangeArrowheads="1"/>
          </p:cNvSpPr>
          <p:nvPr>
            <p:ph sz="half" idx="2"/>
          </p:nvPr>
        </p:nvSpPr>
        <p:spPr bwMode="auto">
          <a:xfrm>
            <a:off x="839788" y="2362209"/>
            <a:ext cx="518001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 Gesture Detection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should detect hand landmarks and recognize gestures like drawing, erasing, and button interactions.</a:t>
            </a:r>
          </a:p>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Drawing on Canvas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Users should be able to draw on a virtual canvas using hand gestures.</a:t>
            </a:r>
          </a:p>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Color Selection</a:t>
            </a:r>
            <a:r>
              <a:rPr lang="en-US" altLang="en-US" sz="1800" dirty="0">
                <a:latin typeface="Times New Roman" panose="02020603050405020304" pitchFamily="18" charset="0"/>
                <a:cs typeface="Times New Roman" panose="02020603050405020304" pitchFamily="18" charset="0"/>
              </a:rPr>
              <a:t> and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Erasing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should allow users to change the brush color with on-screen color buttons and users should be able to erase</a:t>
            </a:r>
            <a:r>
              <a:rPr lang="en-US" altLang="en-US" sz="1800" dirty="0">
                <a:latin typeface="Times New Roman" panose="02020603050405020304" pitchFamily="18" charset="0"/>
                <a:cs typeface="Times New Roman" panose="02020603050405020304" pitchFamily="18" charset="0"/>
              </a:rPr>
              <a:t>.</a:t>
            </a:r>
          </a:p>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Live Video Feed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application should display a live feed from the webcam alongside the drawing canvas.</a:t>
            </a:r>
          </a:p>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Save Drawing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Users should be able to save their drawing by pressing a designated key.</a:t>
            </a:r>
          </a:p>
        </p:txBody>
      </p:sp>
      <p:sp>
        <p:nvSpPr>
          <p:cNvPr id="3" name="Content Placeholder 2">
            <a:extLst>
              <a:ext uri="{FF2B5EF4-FFF2-40B4-BE49-F238E27FC236}">
                <a16:creationId xmlns:a16="http://schemas.microsoft.com/office/drawing/2014/main" id="{3E1462C0-3648-6344-EEC0-0708B8390B29}"/>
              </a:ext>
            </a:extLst>
          </p:cNvPr>
          <p:cNvSpPr>
            <a:spLocks noGrp="1" noChangeArrowheads="1"/>
          </p:cNvSpPr>
          <p:nvPr>
            <p:ph sz="quarter" idx="4"/>
          </p:nvPr>
        </p:nvSpPr>
        <p:spPr bwMode="auto">
          <a:xfrm>
            <a:off x="6172200" y="2399789"/>
            <a:ext cx="518001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Performance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should process hand gestures and voice with minimal latency.</a:t>
            </a:r>
          </a:p>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Accuracy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Gesture recognition and speech-to-text conversion should maintain a high level of accuracy for reliable operation. </a:t>
            </a:r>
          </a:p>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Compatibility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application should run smoothly on systems with moderate hardware configurations and standard webcams.</a:t>
            </a:r>
          </a:p>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Robustness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should handle errors gracefully, such as unclear gestures.</a:t>
            </a:r>
          </a:p>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Security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application should securely handle user data, ensuring no unnecessary access to the webcam or microphone. </a:t>
            </a:r>
          </a:p>
        </p:txBody>
      </p:sp>
    </p:spTree>
    <p:extLst>
      <p:ext uri="{BB962C8B-B14F-4D97-AF65-F5344CB8AC3E}">
        <p14:creationId xmlns:p14="http://schemas.microsoft.com/office/powerpoint/2010/main" val="4696781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AA1E7-61C1-1E5E-B6A0-390E8290BD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831540-6E4C-E493-FB1B-174B4E85B48E}"/>
              </a:ext>
            </a:extLst>
          </p:cNvPr>
          <p:cNvSpPr>
            <a:spLocks noGrp="1"/>
          </p:cNvSpPr>
          <p:nvPr>
            <p:ph type="title"/>
          </p:nvPr>
        </p:nvSpPr>
        <p:spPr/>
        <p:txBody>
          <a:bodyPr>
            <a:normAutofit/>
          </a:bodyPr>
          <a:lstStyle/>
          <a:p>
            <a:pPr algn="ctr"/>
            <a:r>
              <a:rPr lang="en-US" sz="3800" b="1" dirty="0">
                <a:latin typeface="Times New Roman" panose="02020603050405020304" pitchFamily="18" charset="0"/>
                <a:cs typeface="Times New Roman" panose="02020603050405020304" pitchFamily="18" charset="0"/>
              </a:rPr>
              <a:t>ALGORITHMS/ TECHNIQUES USED</a:t>
            </a:r>
            <a:endParaRPr lang="en-IN" sz="3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0825684-18F4-D173-6614-CBC934921784}"/>
              </a:ext>
            </a:extLst>
          </p:cNvPr>
          <p:cNvSpPr>
            <a:spLocks noGrp="1"/>
          </p:cNvSpPr>
          <p:nvPr>
            <p:ph idx="1"/>
          </p:nvPr>
        </p:nvSpPr>
        <p:spPr>
          <a:xfrm>
            <a:off x="838200" y="1876425"/>
            <a:ext cx="6578600" cy="4351338"/>
          </a:xfrm>
        </p:spPr>
        <p:txBody>
          <a:bodyPr>
            <a:noAutofit/>
          </a:bodyPr>
          <a:lstStyle/>
          <a:p>
            <a:pPr marL="457200" indent="-457200">
              <a:buAutoNum type="arabicPeriod"/>
            </a:pP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 Tracking and Recognition using Mediapipe</a:t>
            </a:r>
          </a:p>
          <a:p>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Mediapipe is a cross-platform framework developed by Google that specializes in real-time computer vision tasks. In this project, the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Hands module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from Mediapipe is utilized for hand detection and tracking. It identifies key landmarks on the hand, such as the tips of the fingers, and tracks their movement in real time. These landmarks are used to interpret gestures, such as drawing and selecting buttons on the screen. </a:t>
            </a:r>
          </a:p>
          <a:p>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high accuracy and low latency of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Mediapipe's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hand tracking make it an ideal choice for interactive applications like this. </a:t>
            </a:r>
            <a:r>
              <a:rPr lang="en-US" sz="2000" dirty="0" err="1">
                <a:latin typeface="Times New Roman" panose="02020603050405020304" pitchFamily="18" charset="0"/>
                <a:cs typeface="Times New Roman" panose="02020603050405020304" pitchFamily="18" charset="0"/>
              </a:rPr>
              <a:t>Mediapipe’s</a:t>
            </a:r>
            <a:r>
              <a:rPr lang="en-US" sz="2000" dirty="0">
                <a:latin typeface="Times New Roman" panose="02020603050405020304" pitchFamily="18" charset="0"/>
                <a:cs typeface="Times New Roman" panose="02020603050405020304" pitchFamily="18" charset="0"/>
              </a:rPr>
              <a:t> hand tracking significantly enhances the interactivity of the air-drawing project by enabling accurate and real-time gesture recognition.</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075" name="Picture 3" descr="Co-ordinates or land marks in the hand [12].">
            <a:extLst>
              <a:ext uri="{FF2B5EF4-FFF2-40B4-BE49-F238E27FC236}">
                <a16:creationId xmlns:a16="http://schemas.microsoft.com/office/drawing/2014/main" id="{6D50B873-A8BD-A676-88A3-68E5C16219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6799" y="1690688"/>
            <a:ext cx="4174067" cy="480218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8686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ADB26-B753-5E4A-FAEA-3C8264E791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EC66FC-0151-D7E7-4835-A9DD48B1D10A}"/>
              </a:ext>
            </a:extLst>
          </p:cNvPr>
          <p:cNvSpPr>
            <a:spLocks noGrp="1"/>
          </p:cNvSpPr>
          <p:nvPr>
            <p:ph type="title"/>
          </p:nvPr>
        </p:nvSpPr>
        <p:spPr/>
        <p:txBody>
          <a:bodyPr>
            <a:normAutofit/>
          </a:bodyPr>
          <a:lstStyle/>
          <a:p>
            <a:pPr algn="ctr"/>
            <a:r>
              <a:rPr lang="en-US" sz="3800" b="1" dirty="0">
                <a:latin typeface="Times New Roman" panose="02020603050405020304" pitchFamily="18" charset="0"/>
                <a:cs typeface="Times New Roman" panose="02020603050405020304" pitchFamily="18" charset="0"/>
              </a:rPr>
              <a:t>ALGORITHMS/ TECHNIQUES USED</a:t>
            </a:r>
            <a:endParaRPr lang="en-IN" sz="3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FC9F92F-9D00-4B54-187F-3B82E30A65DB}"/>
              </a:ext>
            </a:extLst>
          </p:cNvPr>
          <p:cNvSpPr>
            <a:spLocks noGrp="1"/>
          </p:cNvSpPr>
          <p:nvPr>
            <p:ph idx="1"/>
          </p:nvPr>
        </p:nvSpPr>
        <p:spPr>
          <a:xfrm>
            <a:off x="838200" y="1876425"/>
            <a:ext cx="6578600" cy="4351338"/>
          </a:xfrm>
        </p:spPr>
        <p:txBody>
          <a:bodyPr>
            <a:noAutofit/>
          </a:bodyPr>
          <a:lstStyle/>
          <a:p>
            <a:pPr marL="0" indent="0">
              <a:buNone/>
            </a:pPr>
            <a:r>
              <a:rPr lang="en-US" altLang="en-US" sz="2500" b="1" dirty="0">
                <a:latin typeface="Times New Roman" panose="02020603050405020304" pitchFamily="18" charset="0"/>
                <a:cs typeface="Times New Roman" panose="02020603050405020304" pitchFamily="18" charset="0"/>
              </a:rPr>
              <a:t>2. </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Speech Recognition for Real-time Closed  Captions</a:t>
            </a:r>
          </a:p>
          <a:p>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Speech recognition technology in this project is implemented using the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speech_recognition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library, which leverages Google's speech-to-text API. The microphone continuously captures audio, and the system processes it to convert speech into text. </a:t>
            </a:r>
          </a:p>
          <a:p>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functionality allows the user to give voice commands, which are then displayed as captions on the screen. It runs on a separate thread, ensuring that the main drawing interface remains responsive while constantly updating captions. Speech recognition adds an interactive, hands-free element to the air-drawing experience. </a:t>
            </a:r>
          </a:p>
        </p:txBody>
      </p:sp>
      <p:pic>
        <p:nvPicPr>
          <p:cNvPr id="4099" name="Picture 3" descr="Flowchart of speech recognition process. | Download Scientific Diagram">
            <a:extLst>
              <a:ext uri="{FF2B5EF4-FFF2-40B4-BE49-F238E27FC236}">
                <a16:creationId xmlns:a16="http://schemas.microsoft.com/office/drawing/2014/main" id="{5A3FA8D7-2831-8AEC-53D0-EDBBAEB528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6800" y="1741488"/>
            <a:ext cx="4266142" cy="448627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4144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5AA1B-4FD9-FA0E-23BF-EA01EB3332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68BF62-6C1A-830E-5A47-1F4F972B01EF}"/>
              </a:ext>
            </a:extLst>
          </p:cNvPr>
          <p:cNvSpPr>
            <a:spLocks noGrp="1"/>
          </p:cNvSpPr>
          <p:nvPr>
            <p:ph type="title"/>
          </p:nvPr>
        </p:nvSpPr>
        <p:spPr/>
        <p:txBody>
          <a:bodyPr>
            <a:normAutofit/>
          </a:bodyPr>
          <a:lstStyle/>
          <a:p>
            <a:pPr algn="ctr"/>
            <a:r>
              <a:rPr lang="en-US" sz="3800" b="1" dirty="0">
                <a:latin typeface="Times New Roman" panose="02020603050405020304" pitchFamily="18" charset="0"/>
                <a:cs typeface="Times New Roman" panose="02020603050405020304" pitchFamily="18" charset="0"/>
              </a:rPr>
              <a:t>ALGORITHMS/ TECHNIQUES USED</a:t>
            </a:r>
            <a:endParaRPr lang="en-IN" sz="3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339D5B4-19E6-FC27-7519-84DD4FCE09CC}"/>
              </a:ext>
            </a:extLst>
          </p:cNvPr>
          <p:cNvSpPr>
            <a:spLocks noGrp="1"/>
          </p:cNvSpPr>
          <p:nvPr>
            <p:ph idx="1"/>
          </p:nvPr>
        </p:nvSpPr>
        <p:spPr>
          <a:xfrm>
            <a:off x="838200" y="1876425"/>
            <a:ext cx="6578600" cy="4351338"/>
          </a:xfrm>
        </p:spPr>
        <p:txBody>
          <a:bodyPr>
            <a:noAutofit/>
          </a:bodyPr>
          <a:lstStyle/>
          <a:p>
            <a:pPr marL="0" indent="0">
              <a:buNone/>
            </a:pPr>
            <a:r>
              <a:rPr lang="en-US" altLang="en-US" sz="2500" b="1" dirty="0">
                <a:latin typeface="Times New Roman" panose="02020603050405020304" pitchFamily="18" charset="0"/>
                <a:cs typeface="Times New Roman" panose="02020603050405020304" pitchFamily="18" charset="0"/>
              </a:rPr>
              <a:t>3. OpenCV for Real-time Video Processing</a:t>
            </a:r>
            <a:endPar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OpenCV (Open-Source Computer Vision Library) is used for real-time image processing in your project. It handles tasks such as capturing video from the webcam, displaying the camera feed, and drawing shapes on the canvas. OpenCV allows you to overlay the drawing on the camera feed, create interactive buttons for color selection, and implement features like erasing the canvas. </a:t>
            </a:r>
          </a:p>
          <a:p>
            <a:r>
              <a:rPr lang="en-US" sz="2000" dirty="0">
                <a:latin typeface="Times New Roman" panose="02020603050405020304" pitchFamily="18" charset="0"/>
                <a:cs typeface="Times New Roman" panose="02020603050405020304" pitchFamily="18" charset="0"/>
              </a:rPr>
              <a:t>The library also handles GUI-related tasks such as resizing windows, displaying text, and managing user inputs, making it essential for both the visual and functional aspects of the project.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pic>
        <p:nvPicPr>
          <p:cNvPr id="5122" name="Picture 2" descr="Flow Chart of Multiple Object Tracking. | Download Scientific Diagram">
            <a:extLst>
              <a:ext uri="{FF2B5EF4-FFF2-40B4-BE49-F238E27FC236}">
                <a16:creationId xmlns:a16="http://schemas.microsoft.com/office/drawing/2014/main" id="{9F77CA4D-4284-BD38-48B9-FFD26754C4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9496" y="1749955"/>
            <a:ext cx="3534304" cy="439102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550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B5DF3-7685-A2D3-8CEC-03D7F0D4C0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D88ED3-B545-76F1-D39A-58D47FA73982}"/>
              </a:ext>
            </a:extLst>
          </p:cNvPr>
          <p:cNvSpPr>
            <a:spLocks noGrp="1"/>
          </p:cNvSpPr>
          <p:nvPr>
            <p:ph type="title"/>
          </p:nvPr>
        </p:nvSpPr>
        <p:spPr/>
        <p:txBody>
          <a:bodyPr>
            <a:normAutofit/>
          </a:bodyPr>
          <a:lstStyle/>
          <a:p>
            <a:pPr algn="ctr"/>
            <a:r>
              <a:rPr lang="en-US" sz="3800" b="1" dirty="0">
                <a:latin typeface="Times New Roman" panose="02020603050405020304" pitchFamily="18" charset="0"/>
                <a:cs typeface="Times New Roman" panose="02020603050405020304" pitchFamily="18" charset="0"/>
              </a:rPr>
              <a:t>SYSTEM ARCHITECTURE</a:t>
            </a:r>
            <a:endParaRPr lang="en-IN" sz="38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C467421-6FF4-506A-5B44-BC74ACDF6F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455526"/>
            <a:ext cx="10515600" cy="5149215"/>
          </a:xfrm>
          <a:prstGeom prst="rect">
            <a:avLst/>
          </a:prstGeom>
          <a:ln>
            <a:solidFill>
              <a:schemeClr val="bg1"/>
            </a:solidFill>
          </a:ln>
        </p:spPr>
      </p:pic>
    </p:spTree>
    <p:extLst>
      <p:ext uri="{BB962C8B-B14F-4D97-AF65-F5344CB8AC3E}">
        <p14:creationId xmlns:p14="http://schemas.microsoft.com/office/powerpoint/2010/main" val="1136441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4C68C-9493-0573-8396-923AD3DB9EDA}"/>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Conclusion &amp; Future Work</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96D56EC-BD77-EC2C-A27F-AED8EB456205}"/>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In conclusion, this air-drawing application integrates a hand gesture recognizer, speech-to-text converter, and drawing canvas to provide users with a truly unique and engaging experience. A user can input drawings in real-time using hand gestures while, at the same time, capturing captions based on voice inputs. </a:t>
            </a:r>
          </a:p>
          <a:p>
            <a:r>
              <a:rPr lang="en-US" dirty="0">
                <a:latin typeface="Times New Roman" panose="02020603050405020304" pitchFamily="18" charset="0"/>
                <a:cs typeface="Times New Roman" panose="02020603050405020304" pitchFamily="18" charset="0"/>
              </a:rPr>
              <a:t>The application provides an innovative solution for interactive presentations, online education, creative design, and other use cases requiring hands-free drawing and captioning. Its intuitive interface and smooth performance make it accessible to users with varying technical expertise, enhancing its versatility and scope.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56389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6FF5C6-5CD7-B51E-F4D6-CCF4778F2D82}"/>
              </a:ext>
            </a:extLst>
          </p:cNvPr>
          <p:cNvSpPr>
            <a:spLocks noGrp="1"/>
          </p:cNvSpPr>
          <p:nvPr>
            <p:ph type="title"/>
          </p:nvPr>
        </p:nvSpPr>
        <p:spPr>
          <a:xfrm>
            <a:off x="838200" y="2766218"/>
            <a:ext cx="10515600" cy="1325563"/>
          </a:xfrm>
        </p:spPr>
        <p:txBody>
          <a:bodyPr/>
          <a:lstStyle/>
          <a:p>
            <a:pPr algn="ctr"/>
            <a:r>
              <a:rPr lang="en-US" b="1">
                <a:latin typeface="Times New Roman" panose="02020603050405020304" pitchFamily="18" charset="0"/>
                <a:cs typeface="Times New Roman" panose="02020603050405020304" pitchFamily="18" charset="0"/>
              </a:rPr>
              <a:t>THANK YOU</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15143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736</TotalTime>
  <Words>1555</Words>
  <Application>Microsoft Office PowerPoint</Application>
  <PresentationFormat>Widescreen</PresentationFormat>
  <Paragraphs>132</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Times New Roman</vt:lpstr>
      <vt:lpstr>Office Theme</vt:lpstr>
      <vt:lpstr>Real-time Virtual Drawing and Captions for Online learning using Computer Vision</vt:lpstr>
      <vt:lpstr>ABSTRACT</vt:lpstr>
      <vt:lpstr>OBJECTIVES</vt:lpstr>
      <vt:lpstr>LITERATURE REVIEW</vt:lpstr>
      <vt:lpstr>LITERATURE REVIEW</vt:lpstr>
      <vt:lpstr>PROPOSED SOLUTION</vt:lpstr>
      <vt:lpstr>REQUIREMENTS</vt:lpstr>
      <vt:lpstr>REQUIREMENTS</vt:lpstr>
      <vt:lpstr>ALGORITHMS/ TECHNIQUES USED</vt:lpstr>
      <vt:lpstr>ALGORITHMS/ TECHNIQUES USED</vt:lpstr>
      <vt:lpstr>ALGORITHMS/ TECHNIQUES USED</vt:lpstr>
      <vt:lpstr>SYSTEM ARCHITECTURE</vt:lpstr>
      <vt:lpstr>Conclusion &amp; Future Work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Virtual Drawing and Captions for Online learning using Computer Vision</dc:title>
  <dc:creator>Jayasimha Reddy V</dc:creator>
  <cp:lastModifiedBy>SANTHOSH KUMAR NAIK</cp:lastModifiedBy>
  <cp:revision>33</cp:revision>
  <dcterms:created xsi:type="dcterms:W3CDTF">2024-11-13T16:00:42Z</dcterms:created>
  <dcterms:modified xsi:type="dcterms:W3CDTF">2025-05-04T18:25:46Z</dcterms:modified>
</cp:coreProperties>
</file>